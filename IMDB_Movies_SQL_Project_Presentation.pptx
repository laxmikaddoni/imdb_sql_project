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145AC-F74A-FB68-17FC-C2650ADF01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154459-7D84-BDF0-4D8C-E52C64AE61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45F0B4-D87D-976F-A21C-2909B61FD57D}"/>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5" name="Footer Placeholder 4">
            <a:extLst>
              <a:ext uri="{FF2B5EF4-FFF2-40B4-BE49-F238E27FC236}">
                <a16:creationId xmlns:a16="http://schemas.microsoft.com/office/drawing/2014/main" id="{D5DF17DC-2786-9941-DA4B-CA052F742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2888E8-00A0-2A23-B02B-4BA1EAC05C15}"/>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2125341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29D9D-7C55-8CB3-3E34-01E4DC7CE2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F270DC-0AB1-B0D9-9F33-994CC0CCC4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78DF1-E78D-3FDA-7FE4-B8E4AB24977F}"/>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5" name="Footer Placeholder 4">
            <a:extLst>
              <a:ext uri="{FF2B5EF4-FFF2-40B4-BE49-F238E27FC236}">
                <a16:creationId xmlns:a16="http://schemas.microsoft.com/office/drawing/2014/main" id="{E851E220-5E21-B08C-0A22-AD9B05D6A3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A1C03D-96CD-7FAD-BF29-F1804FA94BE8}"/>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3932827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B79C8-CCF8-32D7-E428-86C0F6815D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B2E86D-457E-020A-8932-2116E25A9A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DD7E29-4941-A891-EB79-5BBB2642422A}"/>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5" name="Footer Placeholder 4">
            <a:extLst>
              <a:ext uri="{FF2B5EF4-FFF2-40B4-BE49-F238E27FC236}">
                <a16:creationId xmlns:a16="http://schemas.microsoft.com/office/drawing/2014/main" id="{FFD682DC-DCF2-FA38-603F-B9301EE144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E6F000-2DAA-AA1E-DD88-F7076AB85196}"/>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4218164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FE56D-F978-C5A3-795E-83CAFE005B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8424C6-75D6-5748-9E03-0D12AEFC4B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002185-8B7C-A565-4500-C9EAC86E25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3E70DE-F980-C196-0F5A-279C32B846BD}"/>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6" name="Footer Placeholder 5">
            <a:extLst>
              <a:ext uri="{FF2B5EF4-FFF2-40B4-BE49-F238E27FC236}">
                <a16:creationId xmlns:a16="http://schemas.microsoft.com/office/drawing/2014/main" id="{F73F9000-88E8-FECE-924A-84C02D9A0B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BA85EE-52B8-E148-AA2D-F851B1FA4035}"/>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3472683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838C2-86C6-63AE-AE62-CD89E87C15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3B51A6-712B-8CC3-BD93-3C7E0AEFE9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C806D2-4926-C680-41A8-A3CB34DB5B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A808F6-B12A-998E-ECAF-334B953F3F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8B84E0-EB9F-47FB-C90A-6FC2D6BC8F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5E35A9-4EDF-7EC3-C7AB-FF82C36CA8E1}"/>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8" name="Footer Placeholder 7">
            <a:extLst>
              <a:ext uri="{FF2B5EF4-FFF2-40B4-BE49-F238E27FC236}">
                <a16:creationId xmlns:a16="http://schemas.microsoft.com/office/drawing/2014/main" id="{18F09883-4D25-B2EF-AD01-7F50FA6AD0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C2939F-48CA-9399-69BA-04DBF230FF52}"/>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2687733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9A4AC-7BC7-8E38-2941-4AC7043235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8BF046-68CC-6AFC-9ED6-EF57C6BE0CEF}"/>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4" name="Footer Placeholder 3">
            <a:extLst>
              <a:ext uri="{FF2B5EF4-FFF2-40B4-BE49-F238E27FC236}">
                <a16:creationId xmlns:a16="http://schemas.microsoft.com/office/drawing/2014/main" id="{4038FC77-A98B-DA6E-0340-70EF99A63A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276BF4-C1B6-1FFC-9E77-6632BB73D148}"/>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2750818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AAF7DA-CFEB-2DC3-4640-1C8C6180A275}"/>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3" name="Footer Placeholder 2">
            <a:extLst>
              <a:ext uri="{FF2B5EF4-FFF2-40B4-BE49-F238E27FC236}">
                <a16:creationId xmlns:a16="http://schemas.microsoft.com/office/drawing/2014/main" id="{969C3237-AB65-EAA6-A92F-FBF203A345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9D2B32-F1FA-5921-DD56-F61BA6D729A6}"/>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603397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8CFB-8BB5-4757-3E46-309E132A9C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57EEC7-AF32-D5C9-5A58-5D8E692BC9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6657D5-8F44-83B4-D3FF-850588DB02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2FFBD7-34C9-1664-0EBA-770D99A543AE}"/>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6" name="Footer Placeholder 5">
            <a:extLst>
              <a:ext uri="{FF2B5EF4-FFF2-40B4-BE49-F238E27FC236}">
                <a16:creationId xmlns:a16="http://schemas.microsoft.com/office/drawing/2014/main" id="{632D0F40-F5A2-12F1-9DAA-1ACD428CE7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90C036-2564-D34A-B488-C81F35DD62D1}"/>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1556165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9564-B435-DF35-A056-82C2ABB364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0A6DBA-B499-0DB7-6EFF-C8D5E246C8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FFDCCF-FA95-2A91-96EE-26619F6B9D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F14AE7-C7AD-9070-BB2A-36133232932D}"/>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6" name="Footer Placeholder 5">
            <a:extLst>
              <a:ext uri="{FF2B5EF4-FFF2-40B4-BE49-F238E27FC236}">
                <a16:creationId xmlns:a16="http://schemas.microsoft.com/office/drawing/2014/main" id="{2CB4BC21-FA91-69B9-899F-E826DA9B11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0F3583-4281-3333-9BBC-FCF2A8B4A1CC}"/>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237426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1E26F-42ED-2C23-F9E5-DEBFEB5DD6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6BA79-4E48-D794-844E-22E3D767A5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A79013-FE06-F516-0B85-57F3CD96986F}"/>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5" name="Footer Placeholder 4">
            <a:extLst>
              <a:ext uri="{FF2B5EF4-FFF2-40B4-BE49-F238E27FC236}">
                <a16:creationId xmlns:a16="http://schemas.microsoft.com/office/drawing/2014/main" id="{88F3EA60-E714-6839-E28C-3D32FA7037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47476-C0CD-8749-C67A-19264CC32187}"/>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1543096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544CA4-650E-E904-3931-F091A7375A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66A00B-5B32-5165-AE1B-A632A8C830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D831AF-5920-8F96-660E-64ADB048782D}"/>
              </a:ext>
            </a:extLst>
          </p:cNvPr>
          <p:cNvSpPr>
            <a:spLocks noGrp="1"/>
          </p:cNvSpPr>
          <p:nvPr>
            <p:ph type="dt" sz="half" idx="10"/>
          </p:nvPr>
        </p:nvSpPr>
        <p:spPr/>
        <p:txBody>
          <a:bodyPr/>
          <a:lstStyle/>
          <a:p>
            <a:fld id="{64AC3BD6-574D-4C05-8565-29B0C0FC5519}" type="datetimeFigureOut">
              <a:rPr lang="en-US" smtClean="0"/>
              <a:t>2/26/2026</a:t>
            </a:fld>
            <a:endParaRPr lang="en-US"/>
          </a:p>
        </p:txBody>
      </p:sp>
      <p:sp>
        <p:nvSpPr>
          <p:cNvPr id="5" name="Footer Placeholder 4">
            <a:extLst>
              <a:ext uri="{FF2B5EF4-FFF2-40B4-BE49-F238E27FC236}">
                <a16:creationId xmlns:a16="http://schemas.microsoft.com/office/drawing/2014/main" id="{24335150-B988-7087-27CA-0974E37814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55AFA-2188-211D-3633-72F2C6212325}"/>
              </a:ext>
            </a:extLst>
          </p:cNvPr>
          <p:cNvSpPr>
            <a:spLocks noGrp="1"/>
          </p:cNvSpPr>
          <p:nvPr>
            <p:ph type="sldNum" sz="quarter" idx="12"/>
          </p:nvPr>
        </p:nvSpPr>
        <p:spPr/>
        <p:txBody>
          <a:bodyPr/>
          <a:lstStyle/>
          <a:p>
            <a:fld id="{77B71A58-BC18-40CE-818C-15BBDB383C47}" type="slidenum">
              <a:rPr lang="en-US" smtClean="0"/>
              <a:t>‹#›</a:t>
            </a:fld>
            <a:endParaRPr lang="en-US"/>
          </a:p>
        </p:txBody>
      </p:sp>
    </p:spTree>
    <p:extLst>
      <p:ext uri="{BB962C8B-B14F-4D97-AF65-F5344CB8AC3E}">
        <p14:creationId xmlns:p14="http://schemas.microsoft.com/office/powerpoint/2010/main" val="3389637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EDE729-23AA-A845-DB1B-967D6A7F51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A42FC0-D10A-C9A6-2F0B-D3DDE12C03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2EEE04-59AA-F988-A0A5-A7CD767628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AC3BD6-574D-4C05-8565-29B0C0FC5519}" type="datetimeFigureOut">
              <a:rPr lang="en-US" smtClean="0"/>
              <a:t>2/26/2026</a:t>
            </a:fld>
            <a:endParaRPr lang="en-US"/>
          </a:p>
        </p:txBody>
      </p:sp>
      <p:sp>
        <p:nvSpPr>
          <p:cNvPr id="5" name="Footer Placeholder 4">
            <a:extLst>
              <a:ext uri="{FF2B5EF4-FFF2-40B4-BE49-F238E27FC236}">
                <a16:creationId xmlns:a16="http://schemas.microsoft.com/office/drawing/2014/main" id="{D63302D5-33D8-0B3F-FE4A-73758BE24F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FB8BBD-AB8B-F917-2501-E7F05A056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B71A58-BC18-40CE-818C-15BBDB383C47}" type="slidenum">
              <a:rPr lang="en-US" smtClean="0"/>
              <a:t>‹#›</a:t>
            </a:fld>
            <a:endParaRPr lang="en-US"/>
          </a:p>
        </p:txBody>
      </p:sp>
    </p:spTree>
    <p:extLst>
      <p:ext uri="{BB962C8B-B14F-4D97-AF65-F5344CB8AC3E}">
        <p14:creationId xmlns:p14="http://schemas.microsoft.com/office/powerpoint/2010/main" val="2876483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D79A6-B2CF-9F4D-780B-38567B876992}"/>
              </a:ext>
            </a:extLst>
          </p:cNvPr>
          <p:cNvSpPr>
            <a:spLocks noGrp="1"/>
          </p:cNvSpPr>
          <p:nvPr>
            <p:ph type="ctrTitle"/>
          </p:nvPr>
        </p:nvSpPr>
        <p:spPr>
          <a:xfrm>
            <a:off x="1524000" y="1140543"/>
            <a:ext cx="9144000" cy="3746090"/>
          </a:xfrm>
        </p:spPr>
        <p:txBody>
          <a:bodyPr>
            <a:normAutofit fontScale="90000"/>
          </a:bodyPr>
          <a:lstStyle/>
          <a:p>
            <a:br>
              <a:rPr lang="en-US" sz="4000"/>
            </a:br>
            <a:br>
              <a:rPr lang="en-US" sz="4000"/>
            </a:br>
            <a:br>
              <a:rPr lang="en-US" sz="4000"/>
            </a:br>
            <a:br>
              <a:rPr lang="en-US" sz="4000"/>
            </a:br>
            <a:br>
              <a:rPr lang="en-US" sz="4000"/>
            </a:br>
            <a:br>
              <a:rPr lang="en-US" sz="4000"/>
            </a:br>
            <a:br>
              <a:rPr lang="en-US" sz="4000"/>
            </a:br>
            <a:r>
              <a:rPr lang="en-US" sz="4400" b="1"/>
              <a:t>IMDB Movies Database Analysis Using SQl</a:t>
            </a:r>
            <a:br>
              <a:rPr lang="en-US" sz="4400"/>
            </a:br>
            <a:br>
              <a:rPr lang="en-US" sz="4400"/>
            </a:br>
            <a:r>
              <a:rPr lang="en-US" sz="4000"/>
              <a:t>Submitted by:</a:t>
            </a:r>
            <a:br>
              <a:rPr lang="en-US" sz="4000"/>
            </a:br>
            <a:r>
              <a:rPr lang="en-US" sz="3600"/>
              <a:t>Laxmi Kaddoni</a:t>
            </a:r>
            <a:br>
              <a:rPr lang="en-US" sz="4000"/>
            </a:br>
            <a:br>
              <a:rPr lang="en-US" sz="4000"/>
            </a:br>
            <a:r>
              <a:rPr lang="en-US" sz="4000"/>
              <a:t>Tools Used</a:t>
            </a:r>
            <a:br>
              <a:rPr lang="en-US" sz="4000"/>
            </a:br>
            <a:r>
              <a:rPr lang="en-US" sz="3600"/>
              <a:t>SQL</a:t>
            </a:r>
          </a:p>
        </p:txBody>
      </p:sp>
    </p:spTree>
    <p:extLst>
      <p:ext uri="{BB962C8B-B14F-4D97-AF65-F5344CB8AC3E}">
        <p14:creationId xmlns:p14="http://schemas.microsoft.com/office/powerpoint/2010/main" val="730308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2D01E7-13DA-8CD3-ACAD-F8E4DE75484E}"/>
              </a:ext>
            </a:extLst>
          </p:cNvPr>
          <p:cNvSpPr txBox="1"/>
          <p:nvPr/>
        </p:nvSpPr>
        <p:spPr>
          <a:xfrm>
            <a:off x="2074606" y="1922486"/>
            <a:ext cx="8416413" cy="2308324"/>
          </a:xfrm>
          <a:prstGeom prst="rect">
            <a:avLst/>
          </a:prstGeom>
          <a:noFill/>
        </p:spPr>
        <p:txBody>
          <a:bodyPr wrap="square">
            <a:spAutoFit/>
          </a:bodyPr>
          <a:lstStyle/>
          <a:p>
            <a:pPr>
              <a:buNone/>
            </a:pPr>
            <a:r>
              <a:rPr lang="en-US"/>
              <a:t>This project focuses on analyzing </a:t>
            </a:r>
            <a:r>
              <a:rPr lang="en-US" b="1"/>
              <a:t>IMDB Movies data</a:t>
            </a:r>
            <a:r>
              <a:rPr lang="en-US"/>
              <a:t> using </a:t>
            </a:r>
            <a:r>
              <a:rPr lang="en-US" b="1"/>
              <a:t>SQL</a:t>
            </a:r>
            <a:r>
              <a:rPr lang="en-US"/>
              <a:t>.</a:t>
            </a:r>
            <a:br>
              <a:rPr lang="en-US"/>
            </a:br>
            <a:r>
              <a:rPr lang="en-US"/>
              <a:t>The goal is to extract </a:t>
            </a:r>
            <a:r>
              <a:rPr lang="en-US" b="1"/>
              <a:t>meaningful insights</a:t>
            </a:r>
            <a:r>
              <a:rPr lang="en-US"/>
              <a:t> about:</a:t>
            </a:r>
          </a:p>
          <a:p>
            <a:pPr>
              <a:buFont typeface="Arial" panose="020B0604020202020204" pitchFamily="34" charset="0"/>
              <a:buChar char="•"/>
            </a:pPr>
            <a:r>
              <a:rPr lang="en-US"/>
              <a:t>Movies</a:t>
            </a:r>
          </a:p>
          <a:p>
            <a:pPr>
              <a:buFont typeface="Arial" panose="020B0604020202020204" pitchFamily="34" charset="0"/>
              <a:buChar char="•"/>
            </a:pPr>
            <a:r>
              <a:rPr lang="en-US"/>
              <a:t>Directors</a:t>
            </a:r>
          </a:p>
          <a:p>
            <a:pPr>
              <a:buFont typeface="Arial" panose="020B0604020202020204" pitchFamily="34" charset="0"/>
              <a:buChar char="•"/>
            </a:pPr>
            <a:r>
              <a:rPr lang="en-US"/>
              <a:t>Popularity</a:t>
            </a:r>
          </a:p>
          <a:p>
            <a:pPr>
              <a:buFont typeface="Arial" panose="020B0604020202020204" pitchFamily="34" charset="0"/>
              <a:buChar char="•"/>
            </a:pPr>
            <a:r>
              <a:rPr lang="en-US"/>
              <a:t>Revenue (Bankability)</a:t>
            </a:r>
          </a:p>
          <a:p>
            <a:pPr>
              <a:buFont typeface="Arial" panose="020B0604020202020204" pitchFamily="34" charset="0"/>
              <a:buChar char="•"/>
            </a:pPr>
            <a:r>
              <a:rPr lang="en-US"/>
              <a:t>Ratings</a:t>
            </a:r>
          </a:p>
          <a:p>
            <a:pPr>
              <a:buFont typeface="Arial" panose="020B0604020202020204" pitchFamily="34" charset="0"/>
              <a:buChar char="•"/>
            </a:pPr>
            <a:r>
              <a:rPr lang="en-US"/>
              <a:t>Gender diversity among directors</a:t>
            </a:r>
          </a:p>
        </p:txBody>
      </p:sp>
      <p:sp>
        <p:nvSpPr>
          <p:cNvPr id="5" name="TextBox 4">
            <a:extLst>
              <a:ext uri="{FF2B5EF4-FFF2-40B4-BE49-F238E27FC236}">
                <a16:creationId xmlns:a16="http://schemas.microsoft.com/office/drawing/2014/main" id="{3B9949C5-DF57-C86E-5ED3-0CC2AEEDE2C5}"/>
              </a:ext>
            </a:extLst>
          </p:cNvPr>
          <p:cNvSpPr txBox="1"/>
          <p:nvPr/>
        </p:nvSpPr>
        <p:spPr>
          <a:xfrm>
            <a:off x="825909" y="867386"/>
            <a:ext cx="3883742" cy="523220"/>
          </a:xfrm>
          <a:prstGeom prst="rect">
            <a:avLst/>
          </a:prstGeom>
          <a:noFill/>
        </p:spPr>
        <p:txBody>
          <a:bodyPr wrap="square">
            <a:spAutoFit/>
          </a:bodyPr>
          <a:lstStyle/>
          <a:p>
            <a:pPr>
              <a:buNone/>
            </a:pPr>
            <a:r>
              <a:rPr lang="en-US" sz="2800" b="1"/>
              <a:t>1.Project Overview</a:t>
            </a:r>
          </a:p>
        </p:txBody>
      </p:sp>
    </p:spTree>
    <p:extLst>
      <p:ext uri="{BB962C8B-B14F-4D97-AF65-F5344CB8AC3E}">
        <p14:creationId xmlns:p14="http://schemas.microsoft.com/office/powerpoint/2010/main" val="2574080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E2AE4E-4BFC-2B17-5BD1-D7C47FC62531}"/>
              </a:ext>
            </a:extLst>
          </p:cNvPr>
          <p:cNvSpPr txBox="1"/>
          <p:nvPr/>
        </p:nvSpPr>
        <p:spPr>
          <a:xfrm>
            <a:off x="658760" y="491551"/>
            <a:ext cx="4778477" cy="523220"/>
          </a:xfrm>
          <a:prstGeom prst="rect">
            <a:avLst/>
          </a:prstGeom>
          <a:noFill/>
        </p:spPr>
        <p:txBody>
          <a:bodyPr wrap="square">
            <a:spAutoFit/>
          </a:bodyPr>
          <a:lstStyle/>
          <a:p>
            <a:r>
              <a:rPr lang="en-US" sz="2800" b="1"/>
              <a:t>2.Database Information</a:t>
            </a:r>
          </a:p>
        </p:txBody>
      </p:sp>
      <p:sp>
        <p:nvSpPr>
          <p:cNvPr id="15" name="TextBox 14">
            <a:extLst>
              <a:ext uri="{FF2B5EF4-FFF2-40B4-BE49-F238E27FC236}">
                <a16:creationId xmlns:a16="http://schemas.microsoft.com/office/drawing/2014/main" id="{CC3D8D12-FF9C-7521-E377-D7EA1F607A83}"/>
              </a:ext>
            </a:extLst>
          </p:cNvPr>
          <p:cNvSpPr txBox="1"/>
          <p:nvPr/>
        </p:nvSpPr>
        <p:spPr>
          <a:xfrm>
            <a:off x="2384323" y="1209478"/>
            <a:ext cx="7423353" cy="5078313"/>
          </a:xfrm>
          <a:prstGeom prst="rect">
            <a:avLst/>
          </a:prstGeom>
          <a:noFill/>
        </p:spPr>
        <p:txBody>
          <a:bodyPr wrap="square">
            <a:spAutoFit/>
          </a:bodyPr>
          <a:lstStyle/>
          <a:p>
            <a:pPr>
              <a:buFont typeface="Arial" panose="020B0604020202020204" pitchFamily="34" charset="0"/>
              <a:buChar char="•"/>
            </a:pPr>
            <a:r>
              <a:rPr lang="en-US"/>
              <a:t>The project uses a </a:t>
            </a:r>
            <a:r>
              <a:rPr lang="en-US" b="1"/>
              <a:t>relational database</a:t>
            </a:r>
            <a:r>
              <a:rPr lang="en-US"/>
              <a:t> named </a:t>
            </a:r>
            <a:r>
              <a:rPr lang="en-US" b="1"/>
              <a:t>project_movie_database</a:t>
            </a:r>
            <a:endParaRPr lang="en-US"/>
          </a:p>
          <a:p>
            <a:pPr>
              <a:buFont typeface="Arial" panose="020B0604020202020204" pitchFamily="34" charset="0"/>
              <a:buChar char="•"/>
            </a:pPr>
            <a:r>
              <a:rPr lang="en-US"/>
              <a:t>The database is designed to manage information related to </a:t>
            </a:r>
            <a:r>
              <a:rPr lang="en-US" b="1"/>
              <a:t>movies and their</a:t>
            </a:r>
          </a:p>
          <a:p>
            <a:endParaRPr lang="en-US" b="1"/>
          </a:p>
          <a:p>
            <a:r>
              <a:rPr lang="en-US" b="1"/>
              <a:t> directors</a:t>
            </a:r>
          </a:p>
          <a:p>
            <a:endParaRPr lang="en-US"/>
          </a:p>
          <a:p>
            <a:pPr>
              <a:buFont typeface="Arial" panose="020B0604020202020204" pitchFamily="34" charset="0"/>
              <a:buChar char="•"/>
            </a:pPr>
            <a:r>
              <a:rPr lang="en-US"/>
              <a:t>It consists of </a:t>
            </a:r>
            <a:r>
              <a:rPr lang="en-US" b="1"/>
              <a:t>two main tables</a:t>
            </a:r>
            <a:r>
              <a:rPr lang="en-US"/>
              <a:t>:</a:t>
            </a:r>
          </a:p>
          <a:p>
            <a:pPr marL="742950" lvl="1" indent="-285750">
              <a:buFont typeface="Arial" panose="020B0604020202020204" pitchFamily="34" charset="0"/>
              <a:buChar char="•"/>
            </a:pPr>
            <a:r>
              <a:rPr lang="en-US" b="1"/>
              <a:t>Directors</a:t>
            </a:r>
            <a:endParaRPr lang="en-US"/>
          </a:p>
          <a:p>
            <a:pPr marL="742950" lvl="1" indent="-285750">
              <a:buFont typeface="Arial" panose="020B0604020202020204" pitchFamily="34" charset="0"/>
              <a:buChar char="•"/>
            </a:pPr>
            <a:r>
              <a:rPr lang="en-US" b="1"/>
              <a:t>Movies</a:t>
            </a:r>
            <a:endParaRPr lang="en-US"/>
          </a:p>
          <a:p>
            <a:pPr>
              <a:buNone/>
            </a:pPr>
            <a:endParaRPr lang="en-US" b="1"/>
          </a:p>
          <a:p>
            <a:pPr>
              <a:buNone/>
            </a:pPr>
            <a:r>
              <a:rPr lang="en-US" b="1"/>
              <a:t>Directors Table</a:t>
            </a:r>
          </a:p>
          <a:p>
            <a:pPr>
              <a:buNone/>
            </a:pPr>
            <a:endParaRPr lang="en-US" b="1"/>
          </a:p>
          <a:p>
            <a:pPr>
              <a:buFont typeface="Arial" panose="020B0604020202020204" pitchFamily="34" charset="0"/>
              <a:buChar char="•"/>
            </a:pPr>
            <a:r>
              <a:rPr lang="en-US"/>
              <a:t>Stores information about movie directors</a:t>
            </a:r>
          </a:p>
          <a:p>
            <a:pPr>
              <a:buFont typeface="Arial" panose="020B0604020202020204" pitchFamily="34" charset="0"/>
              <a:buChar char="•"/>
            </a:pPr>
            <a:r>
              <a:rPr lang="en-US" b="1"/>
              <a:t>ID</a:t>
            </a:r>
            <a:r>
              <a:rPr lang="en-US"/>
              <a:t> – Unique identifier (Primary Key)</a:t>
            </a:r>
          </a:p>
          <a:p>
            <a:pPr>
              <a:buFont typeface="Arial" panose="020B0604020202020204" pitchFamily="34" charset="0"/>
              <a:buChar char="•"/>
            </a:pPr>
            <a:r>
              <a:rPr lang="en-US" b="1"/>
              <a:t>Name</a:t>
            </a:r>
            <a:r>
              <a:rPr lang="en-US"/>
              <a:t> – Name of the director</a:t>
            </a:r>
          </a:p>
          <a:p>
            <a:pPr>
              <a:buFont typeface="Arial" panose="020B0604020202020204" pitchFamily="34" charset="0"/>
              <a:buChar char="•"/>
            </a:pPr>
            <a:r>
              <a:rPr lang="en-US" b="1"/>
              <a:t>Gender</a:t>
            </a:r>
            <a:r>
              <a:rPr lang="en-US"/>
              <a:t> –</a:t>
            </a:r>
          </a:p>
          <a:p>
            <a:pPr marL="742950" lvl="1" indent="-285750">
              <a:buFont typeface="Arial" panose="020B0604020202020204" pitchFamily="34" charset="0"/>
              <a:buChar char="•"/>
            </a:pPr>
            <a:r>
              <a:rPr lang="en-US">
                <a:latin typeface="Courier New" panose="02070309020205020404" pitchFamily="49" charset="0"/>
              </a:rPr>
              <a:t>0</a:t>
            </a:r>
            <a:r>
              <a:rPr lang="en-US"/>
              <a:t> / </a:t>
            </a:r>
            <a:r>
              <a:rPr lang="en-US">
                <a:latin typeface="Courier New" panose="02070309020205020404" pitchFamily="49" charset="0"/>
              </a:rPr>
              <a:t>2</a:t>
            </a:r>
            <a:r>
              <a:rPr lang="en-US"/>
              <a:t> = Male</a:t>
            </a:r>
          </a:p>
          <a:p>
            <a:pPr marL="742950" lvl="1" indent="-285750">
              <a:buFont typeface="Arial" panose="020B0604020202020204" pitchFamily="34" charset="0"/>
              <a:buChar char="•"/>
            </a:pPr>
            <a:r>
              <a:rPr lang="en-US">
                <a:latin typeface="Courier New" panose="02070309020205020404" pitchFamily="49" charset="0"/>
              </a:rPr>
              <a:t>1</a:t>
            </a:r>
            <a:r>
              <a:rPr lang="en-US"/>
              <a:t> = Female</a:t>
            </a:r>
          </a:p>
          <a:p>
            <a:pPr>
              <a:buFont typeface="Arial" panose="020B0604020202020204" pitchFamily="34" charset="0"/>
              <a:buChar char="•"/>
            </a:pPr>
            <a:r>
              <a:rPr lang="en-US" b="1"/>
              <a:t>Department</a:t>
            </a:r>
            <a:r>
              <a:rPr lang="en-US"/>
              <a:t> – Department associated with the director</a:t>
            </a:r>
          </a:p>
        </p:txBody>
      </p:sp>
    </p:spTree>
    <p:extLst>
      <p:ext uri="{BB962C8B-B14F-4D97-AF65-F5344CB8AC3E}">
        <p14:creationId xmlns:p14="http://schemas.microsoft.com/office/powerpoint/2010/main" val="2715705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00B255-E0EE-DD48-C929-DA1425167EF8}"/>
              </a:ext>
            </a:extLst>
          </p:cNvPr>
          <p:cNvSpPr txBox="1"/>
          <p:nvPr/>
        </p:nvSpPr>
        <p:spPr>
          <a:xfrm>
            <a:off x="1956619" y="1446299"/>
            <a:ext cx="8003458" cy="4247317"/>
          </a:xfrm>
          <a:prstGeom prst="rect">
            <a:avLst/>
          </a:prstGeom>
          <a:noFill/>
        </p:spPr>
        <p:txBody>
          <a:bodyPr wrap="square">
            <a:spAutoFit/>
          </a:bodyPr>
          <a:lstStyle/>
          <a:p>
            <a:pPr>
              <a:buNone/>
            </a:pPr>
            <a:r>
              <a:rPr lang="en-US" b="1"/>
              <a:t>Movies Table</a:t>
            </a:r>
          </a:p>
          <a:p>
            <a:pPr>
              <a:buNone/>
            </a:pPr>
            <a:endParaRPr lang="en-US" b="1"/>
          </a:p>
          <a:p>
            <a:pPr>
              <a:buFont typeface="Arial" panose="020B0604020202020204" pitchFamily="34" charset="0"/>
              <a:buChar char="•"/>
            </a:pPr>
            <a:r>
              <a:rPr lang="en-US"/>
              <a:t>Stores detailed information about movies</a:t>
            </a:r>
          </a:p>
          <a:p>
            <a:pPr>
              <a:buFont typeface="Arial" panose="020B0604020202020204" pitchFamily="34" charset="0"/>
              <a:buChar char="•"/>
            </a:pPr>
            <a:r>
              <a:rPr lang="en-US" b="1"/>
              <a:t>ID</a:t>
            </a:r>
            <a:r>
              <a:rPr lang="en-US"/>
              <a:t> – Movie identifier</a:t>
            </a:r>
          </a:p>
          <a:p>
            <a:pPr>
              <a:buFont typeface="Arial" panose="020B0604020202020204" pitchFamily="34" charset="0"/>
              <a:buChar char="•"/>
            </a:pPr>
            <a:r>
              <a:rPr lang="en-US" b="1"/>
              <a:t>Original_title</a:t>
            </a:r>
            <a:r>
              <a:rPr lang="en-US"/>
              <a:t> – Original name of the movie</a:t>
            </a:r>
          </a:p>
          <a:p>
            <a:pPr>
              <a:buFont typeface="Arial" panose="020B0604020202020204" pitchFamily="34" charset="0"/>
              <a:buChar char="•"/>
            </a:pPr>
            <a:r>
              <a:rPr lang="en-US" b="1"/>
              <a:t>Budget</a:t>
            </a:r>
            <a:r>
              <a:rPr lang="en-US"/>
              <a:t> – Budget allocated for the movie</a:t>
            </a:r>
          </a:p>
          <a:p>
            <a:pPr>
              <a:buFont typeface="Arial" panose="020B0604020202020204" pitchFamily="34" charset="0"/>
              <a:buChar char="•"/>
            </a:pPr>
            <a:r>
              <a:rPr lang="en-US" b="1"/>
              <a:t>Popularity</a:t>
            </a:r>
            <a:r>
              <a:rPr lang="en-US"/>
              <a:t> – Popularity score</a:t>
            </a:r>
          </a:p>
          <a:p>
            <a:pPr>
              <a:buFont typeface="Arial" panose="020B0604020202020204" pitchFamily="34" charset="0"/>
              <a:buChar char="•"/>
            </a:pPr>
            <a:r>
              <a:rPr lang="en-US" b="1"/>
              <a:t>Release_date</a:t>
            </a:r>
            <a:r>
              <a:rPr lang="en-US"/>
              <a:t> – Movie release date</a:t>
            </a:r>
          </a:p>
          <a:p>
            <a:pPr>
              <a:buFont typeface="Arial" panose="020B0604020202020204" pitchFamily="34" charset="0"/>
              <a:buChar char="•"/>
            </a:pPr>
            <a:r>
              <a:rPr lang="en-US" b="1"/>
              <a:t>Revenue</a:t>
            </a:r>
            <a:r>
              <a:rPr lang="en-US"/>
              <a:t> – Total revenue collected</a:t>
            </a:r>
          </a:p>
          <a:p>
            <a:pPr>
              <a:buFont typeface="Arial" panose="020B0604020202020204" pitchFamily="34" charset="0"/>
              <a:buChar char="•"/>
            </a:pPr>
            <a:r>
              <a:rPr lang="en-US" b="1"/>
              <a:t>Vote_average</a:t>
            </a:r>
            <a:r>
              <a:rPr lang="en-US"/>
              <a:t> – Average IMDB rating</a:t>
            </a:r>
          </a:p>
          <a:p>
            <a:pPr>
              <a:buFont typeface="Arial" panose="020B0604020202020204" pitchFamily="34" charset="0"/>
              <a:buChar char="•"/>
            </a:pPr>
            <a:r>
              <a:rPr lang="en-US" b="1"/>
              <a:t>Vote_count</a:t>
            </a:r>
            <a:r>
              <a:rPr lang="en-US"/>
              <a:t> – Number of votes received</a:t>
            </a:r>
          </a:p>
          <a:p>
            <a:pPr>
              <a:buFont typeface="Arial" panose="020B0604020202020204" pitchFamily="34" charset="0"/>
              <a:buChar char="•"/>
            </a:pPr>
            <a:r>
              <a:rPr lang="en-US" b="1"/>
              <a:t>Overview</a:t>
            </a:r>
            <a:r>
              <a:rPr lang="en-US"/>
              <a:t> – Brief description of the movie</a:t>
            </a:r>
          </a:p>
          <a:p>
            <a:pPr>
              <a:buFont typeface="Arial" panose="020B0604020202020204" pitchFamily="34" charset="0"/>
              <a:buChar char="•"/>
            </a:pPr>
            <a:r>
              <a:rPr lang="en-US" b="1"/>
              <a:t>Tagline</a:t>
            </a:r>
            <a:r>
              <a:rPr lang="en-US"/>
              <a:t> – Movie tagline</a:t>
            </a:r>
          </a:p>
          <a:p>
            <a:pPr>
              <a:buFont typeface="Arial" panose="020B0604020202020204" pitchFamily="34" charset="0"/>
              <a:buChar char="•"/>
            </a:pPr>
            <a:r>
              <a:rPr lang="en-US" b="1"/>
              <a:t>UID</a:t>
            </a:r>
            <a:r>
              <a:rPr lang="en-US"/>
              <a:t> – Unique movie identifier</a:t>
            </a:r>
          </a:p>
          <a:p>
            <a:pPr>
              <a:buFont typeface="Arial" panose="020B0604020202020204" pitchFamily="34" charset="0"/>
              <a:buChar char="•"/>
            </a:pPr>
            <a:r>
              <a:rPr lang="en-US" b="1"/>
              <a:t>Director_id</a:t>
            </a:r>
            <a:r>
              <a:rPr lang="en-US"/>
              <a:t> – Foreign Key linking to the Directors table</a:t>
            </a:r>
          </a:p>
        </p:txBody>
      </p:sp>
    </p:spTree>
    <p:extLst>
      <p:ext uri="{BB962C8B-B14F-4D97-AF65-F5344CB8AC3E}">
        <p14:creationId xmlns:p14="http://schemas.microsoft.com/office/powerpoint/2010/main" val="2018380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4EB3E3-DA6B-85B7-291B-448A2B33EDCF}"/>
              </a:ext>
            </a:extLst>
          </p:cNvPr>
          <p:cNvSpPr txBox="1"/>
          <p:nvPr/>
        </p:nvSpPr>
        <p:spPr>
          <a:xfrm>
            <a:off x="1769805" y="2138797"/>
            <a:ext cx="8003459" cy="2585323"/>
          </a:xfrm>
          <a:prstGeom prst="rect">
            <a:avLst/>
          </a:prstGeom>
          <a:noFill/>
        </p:spPr>
        <p:txBody>
          <a:bodyPr wrap="square">
            <a:spAutoFit/>
          </a:bodyPr>
          <a:lstStyle/>
          <a:p>
            <a:pPr>
              <a:buNone/>
            </a:pPr>
            <a:r>
              <a:rPr lang="en-US"/>
              <a:t>The </a:t>
            </a:r>
            <a:r>
              <a:rPr lang="en-US" b="1"/>
              <a:t>Directors</a:t>
            </a:r>
            <a:r>
              <a:rPr lang="en-US"/>
              <a:t> and </a:t>
            </a:r>
            <a:r>
              <a:rPr lang="en-US" b="1"/>
              <a:t>Movies</a:t>
            </a:r>
            <a:r>
              <a:rPr lang="en-US"/>
              <a:t> tables are connected through a </a:t>
            </a:r>
            <a:r>
              <a:rPr lang="en-US" b="1"/>
              <a:t>Primary Key–Foreign Key relationship</a:t>
            </a:r>
            <a:r>
              <a:rPr lang="en-US"/>
              <a:t>. </a:t>
            </a:r>
          </a:p>
          <a:p>
            <a:pPr>
              <a:buNone/>
            </a:pPr>
            <a:endParaRPr lang="en-US"/>
          </a:p>
          <a:p>
            <a:pPr>
              <a:buNone/>
            </a:pPr>
            <a:r>
              <a:rPr lang="en-US"/>
              <a:t>The </a:t>
            </a:r>
            <a:r>
              <a:rPr lang="en-US" b="1"/>
              <a:t>ID</a:t>
            </a:r>
            <a:r>
              <a:rPr lang="en-US"/>
              <a:t> column in the Directors table acts as the </a:t>
            </a:r>
            <a:r>
              <a:rPr lang="en-US" b="1"/>
              <a:t>Primary Key</a:t>
            </a:r>
            <a:r>
              <a:rPr lang="en-US"/>
              <a:t>, while the </a:t>
            </a:r>
            <a:r>
              <a:rPr lang="en-US" b="1"/>
              <a:t>Director_id</a:t>
            </a:r>
            <a:r>
              <a:rPr lang="en-US"/>
              <a:t> column in the Movies table serves as the </a:t>
            </a:r>
            <a:r>
              <a:rPr lang="en-US" b="1"/>
              <a:t>Foreign Key</a:t>
            </a:r>
            <a:r>
              <a:rPr lang="en-US"/>
              <a:t>. </a:t>
            </a:r>
          </a:p>
          <a:p>
            <a:pPr>
              <a:buNone/>
            </a:pPr>
            <a:endParaRPr lang="en-US"/>
          </a:p>
          <a:p>
            <a:pPr>
              <a:buNone/>
            </a:pPr>
            <a:r>
              <a:rPr lang="en-US"/>
              <a:t>This relationship ensures that each movie record is associated with a valid director, enabling efficient data integration and allowing meaningful analysis of movies based on their respective directors.</a:t>
            </a:r>
          </a:p>
        </p:txBody>
      </p:sp>
      <p:sp>
        <p:nvSpPr>
          <p:cNvPr id="5" name="TextBox 4">
            <a:extLst>
              <a:ext uri="{FF2B5EF4-FFF2-40B4-BE49-F238E27FC236}">
                <a16:creationId xmlns:a16="http://schemas.microsoft.com/office/drawing/2014/main" id="{FBB58951-C3C0-8B91-2CD6-3E676A19936F}"/>
              </a:ext>
            </a:extLst>
          </p:cNvPr>
          <p:cNvSpPr txBox="1"/>
          <p:nvPr/>
        </p:nvSpPr>
        <p:spPr>
          <a:xfrm>
            <a:off x="825910" y="739566"/>
            <a:ext cx="3952568" cy="523220"/>
          </a:xfrm>
          <a:prstGeom prst="rect">
            <a:avLst/>
          </a:prstGeom>
          <a:noFill/>
        </p:spPr>
        <p:txBody>
          <a:bodyPr wrap="square">
            <a:spAutoFit/>
          </a:bodyPr>
          <a:lstStyle/>
          <a:p>
            <a:pPr>
              <a:buNone/>
            </a:pPr>
            <a:r>
              <a:rPr lang="en-US" sz="2800" b="1"/>
              <a:t>3.Table Relationship</a:t>
            </a:r>
          </a:p>
        </p:txBody>
      </p:sp>
    </p:spTree>
    <p:extLst>
      <p:ext uri="{BB962C8B-B14F-4D97-AF65-F5344CB8AC3E}">
        <p14:creationId xmlns:p14="http://schemas.microsoft.com/office/powerpoint/2010/main" val="2238134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11129D-1133-8051-12EF-8039279400F2}"/>
              </a:ext>
            </a:extLst>
          </p:cNvPr>
          <p:cNvSpPr txBox="1"/>
          <p:nvPr/>
        </p:nvSpPr>
        <p:spPr>
          <a:xfrm>
            <a:off x="953729" y="1201682"/>
            <a:ext cx="5338916" cy="523220"/>
          </a:xfrm>
          <a:prstGeom prst="rect">
            <a:avLst/>
          </a:prstGeom>
          <a:noFill/>
        </p:spPr>
        <p:txBody>
          <a:bodyPr wrap="square">
            <a:spAutoFit/>
          </a:bodyPr>
          <a:lstStyle/>
          <a:p>
            <a:r>
              <a:rPr lang="en-US" sz="2800" b="1"/>
              <a:t>4.SQL Operations Performed</a:t>
            </a:r>
          </a:p>
        </p:txBody>
      </p:sp>
      <p:sp>
        <p:nvSpPr>
          <p:cNvPr id="5" name="Rectangle 2">
            <a:extLst>
              <a:ext uri="{FF2B5EF4-FFF2-40B4-BE49-F238E27FC236}">
                <a16:creationId xmlns:a16="http://schemas.microsoft.com/office/drawing/2014/main" id="{7279D005-C9FB-042E-9BF9-120931D468DD}"/>
              </a:ext>
            </a:extLst>
          </p:cNvPr>
          <p:cNvSpPr>
            <a:spLocks noChangeArrowheads="1"/>
          </p:cNvSpPr>
          <p:nvPr/>
        </p:nvSpPr>
        <p:spPr bwMode="auto">
          <a:xfrm>
            <a:off x="2192593" y="2330526"/>
            <a:ext cx="820010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Used </a:t>
            </a:r>
            <a:r>
              <a:rPr kumimoji="0" lang="en-US" altLang="en-US" sz="1800" b="1" i="0" u="none" strike="noStrike" cap="none" normalizeH="0" baseline="0">
                <a:ln>
                  <a:noFill/>
                </a:ln>
                <a:solidFill>
                  <a:schemeClr val="tx1"/>
                </a:solidFill>
                <a:effectLst/>
                <a:latin typeface="Arial" panose="020B0604020202020204" pitchFamily="34" charset="0"/>
              </a:rPr>
              <a:t>SELECT</a:t>
            </a:r>
            <a:r>
              <a:rPr kumimoji="0" lang="en-US" altLang="en-US" sz="1800" b="0" i="0" u="none" strike="noStrike" cap="none" normalizeH="0" baseline="0">
                <a:ln>
                  <a:noFill/>
                </a:ln>
                <a:solidFill>
                  <a:schemeClr val="tx1"/>
                </a:solidFill>
                <a:effectLst/>
                <a:latin typeface="Arial" panose="020B0604020202020204" pitchFamily="34" charset="0"/>
              </a:rPr>
              <a:t> statements to retrieve required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Applied </a:t>
            </a:r>
            <a:r>
              <a:rPr kumimoji="0" lang="en-US" altLang="en-US" sz="1800" b="1" i="0" u="none" strike="noStrike" cap="none" normalizeH="0" baseline="0">
                <a:ln>
                  <a:noFill/>
                </a:ln>
                <a:solidFill>
                  <a:schemeClr val="tx1"/>
                </a:solidFill>
                <a:effectLst/>
                <a:latin typeface="Arial" panose="020B0604020202020204" pitchFamily="34" charset="0"/>
              </a:rPr>
              <a:t>WHERE</a:t>
            </a:r>
            <a:r>
              <a:rPr kumimoji="0" lang="en-US" altLang="en-US" sz="1800" b="0" i="0" u="none" strike="noStrike" cap="none" normalizeH="0" baseline="0">
                <a:ln>
                  <a:noFill/>
                </a:ln>
                <a:solidFill>
                  <a:schemeClr val="tx1"/>
                </a:solidFill>
                <a:effectLst/>
                <a:latin typeface="Arial" panose="020B0604020202020204" pitchFamily="34" charset="0"/>
              </a:rPr>
              <a:t> conditions to filter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Used </a:t>
            </a:r>
            <a:r>
              <a:rPr kumimoji="0" lang="en-US" altLang="en-US" sz="1800" b="1" i="0" u="none" strike="noStrike" cap="none" normalizeH="0" baseline="0">
                <a:ln>
                  <a:noFill/>
                </a:ln>
                <a:solidFill>
                  <a:schemeClr val="tx1"/>
                </a:solidFill>
                <a:effectLst/>
                <a:latin typeface="Arial" panose="020B0604020202020204" pitchFamily="34" charset="0"/>
              </a:rPr>
              <a:t>COUNT()</a:t>
            </a:r>
            <a:r>
              <a:rPr kumimoji="0" lang="en-US" altLang="en-US" sz="1800" b="0" i="0" u="none" strike="noStrike" cap="none" normalizeH="0" baseline="0">
                <a:ln>
                  <a:noFill/>
                </a:ln>
                <a:solidFill>
                  <a:schemeClr val="tx1"/>
                </a:solidFill>
                <a:effectLst/>
                <a:latin typeface="Arial" panose="020B0604020202020204" pitchFamily="34" charset="0"/>
              </a:rPr>
              <a:t> to calculate totals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Applied </a:t>
            </a:r>
            <a:r>
              <a:rPr kumimoji="0" lang="en-US" altLang="en-US" sz="1800" b="1" i="0" u="none" strike="noStrike" cap="none" normalizeH="0" baseline="0">
                <a:ln>
                  <a:noFill/>
                </a:ln>
                <a:solidFill>
                  <a:schemeClr val="tx1"/>
                </a:solidFill>
                <a:effectLst/>
                <a:latin typeface="Arial" panose="020B0604020202020204" pitchFamily="34" charset="0"/>
              </a:rPr>
              <a:t>LIKE</a:t>
            </a:r>
            <a:r>
              <a:rPr kumimoji="0" lang="en-US" altLang="en-US" sz="1800" b="0" i="0" u="none" strike="noStrike" cap="none" normalizeH="0" baseline="0">
                <a:ln>
                  <a:noFill/>
                </a:ln>
                <a:solidFill>
                  <a:schemeClr val="tx1"/>
                </a:solidFill>
                <a:effectLst/>
                <a:latin typeface="Arial" panose="020B0604020202020204" pitchFamily="34" charset="0"/>
              </a:rPr>
              <a:t> operator for pattern-based searches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Used </a:t>
            </a:r>
            <a:r>
              <a:rPr kumimoji="0" lang="en-US" altLang="en-US" sz="1800" b="1" i="0" u="none" strike="noStrike" cap="none" normalizeH="0" baseline="0">
                <a:ln>
                  <a:noFill/>
                </a:ln>
                <a:solidFill>
                  <a:schemeClr val="tx1"/>
                </a:solidFill>
                <a:effectLst/>
                <a:latin typeface="Arial" panose="020B0604020202020204" pitchFamily="34" charset="0"/>
              </a:rPr>
              <a:t>ORDER BY</a:t>
            </a:r>
            <a:r>
              <a:rPr kumimoji="0" lang="en-US" altLang="en-US" sz="1800" b="0" i="0" u="none" strike="noStrike" cap="none" normalizeH="0" baseline="0">
                <a:ln>
                  <a:noFill/>
                </a:ln>
                <a:solidFill>
                  <a:schemeClr val="tx1"/>
                </a:solidFill>
                <a:effectLst/>
                <a:latin typeface="Arial" panose="020B0604020202020204" pitchFamily="34" charset="0"/>
              </a:rPr>
              <a:t> to sort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Applied </a:t>
            </a:r>
            <a:r>
              <a:rPr kumimoji="0" lang="en-US" altLang="en-US" sz="1800" b="1" i="0" u="none" strike="noStrike" cap="none" normalizeH="0" baseline="0">
                <a:ln>
                  <a:noFill/>
                </a:ln>
                <a:solidFill>
                  <a:schemeClr val="tx1"/>
                </a:solidFill>
                <a:effectLst/>
                <a:latin typeface="Arial" panose="020B0604020202020204" pitchFamily="34" charset="0"/>
              </a:rPr>
              <a:t>LIMIT</a:t>
            </a:r>
            <a:r>
              <a:rPr kumimoji="0" lang="en-US" altLang="en-US" sz="1800" b="0" i="0" u="none" strike="noStrike" cap="none" normalizeH="0" baseline="0">
                <a:ln>
                  <a:noFill/>
                </a:ln>
                <a:solidFill>
                  <a:schemeClr val="tx1"/>
                </a:solidFill>
                <a:effectLst/>
                <a:latin typeface="Arial" panose="020B0604020202020204" pitchFamily="34" charset="0"/>
              </a:rPr>
              <a:t> to fetch top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Used </a:t>
            </a:r>
            <a:r>
              <a:rPr kumimoji="0" lang="en-US" altLang="en-US" sz="1800" b="1" i="0" u="none" strike="noStrike" cap="none" normalizeH="0" baseline="0">
                <a:ln>
                  <a:noFill/>
                </a:ln>
                <a:solidFill>
                  <a:schemeClr val="tx1"/>
                </a:solidFill>
                <a:effectLst/>
                <a:latin typeface="Arial" panose="020B0604020202020204" pitchFamily="34" charset="0"/>
              </a:rPr>
              <a:t>GROUP BY</a:t>
            </a:r>
            <a:r>
              <a:rPr kumimoji="0" lang="en-US" altLang="en-US" sz="1800" b="0" i="0" u="none" strike="noStrike" cap="none" normalizeH="0" baseline="0">
                <a:ln>
                  <a:noFill/>
                </a:ln>
                <a:solidFill>
                  <a:schemeClr val="tx1"/>
                </a:solidFill>
                <a:effectLst/>
                <a:latin typeface="Arial" panose="020B0604020202020204" pitchFamily="34" charset="0"/>
              </a:rPr>
              <a:t> for aggregation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Applied </a:t>
            </a:r>
            <a:r>
              <a:rPr kumimoji="0" lang="en-US" altLang="en-US" sz="1800" b="1" i="0" u="none" strike="noStrike" cap="none" normalizeH="0" baseline="0">
                <a:ln>
                  <a:noFill/>
                </a:ln>
                <a:solidFill>
                  <a:schemeClr val="tx1"/>
                </a:solidFill>
                <a:effectLst/>
                <a:latin typeface="Arial" panose="020B0604020202020204" pitchFamily="34" charset="0"/>
              </a:rPr>
              <a:t>SUM()</a:t>
            </a:r>
            <a:r>
              <a:rPr kumimoji="0" lang="en-US" altLang="en-US" sz="1800" b="0" i="0" u="none" strike="noStrike" cap="none" normalizeH="0" baseline="0">
                <a:ln>
                  <a:noFill/>
                </a:ln>
                <a:solidFill>
                  <a:schemeClr val="tx1"/>
                </a:solidFill>
                <a:effectLst/>
                <a:latin typeface="Arial" panose="020B0604020202020204" pitchFamily="34" charset="0"/>
              </a:rPr>
              <a:t> to calculate total revenue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Used </a:t>
            </a:r>
            <a:r>
              <a:rPr kumimoji="0" lang="en-US" altLang="en-US" sz="1800" b="1" i="0" u="none" strike="noStrike" cap="none" normalizeH="0" baseline="0">
                <a:ln>
                  <a:noFill/>
                </a:ln>
                <a:solidFill>
                  <a:schemeClr val="tx1"/>
                </a:solidFill>
                <a:effectLst/>
                <a:latin typeface="Arial" panose="020B0604020202020204" pitchFamily="34" charset="0"/>
              </a:rPr>
              <a:t>JOIN</a:t>
            </a:r>
            <a:r>
              <a:rPr kumimoji="0" lang="en-US" altLang="en-US" sz="1800" b="0" i="0" u="none" strike="noStrike" cap="none" normalizeH="0" baseline="0">
                <a:ln>
                  <a:noFill/>
                </a:ln>
                <a:solidFill>
                  <a:schemeClr val="tx1"/>
                </a:solidFill>
                <a:effectLst/>
                <a:latin typeface="Arial" panose="020B0604020202020204" pitchFamily="34" charset="0"/>
              </a:rPr>
              <a:t> operations to combine Directors and Movies tables</a:t>
            </a:r>
          </a:p>
        </p:txBody>
      </p:sp>
    </p:spTree>
    <p:extLst>
      <p:ext uri="{BB962C8B-B14F-4D97-AF65-F5344CB8AC3E}">
        <p14:creationId xmlns:p14="http://schemas.microsoft.com/office/powerpoint/2010/main" val="3798742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3D86B0-CF3E-2F0F-5DE4-9098F5BFD993}"/>
              </a:ext>
            </a:extLst>
          </p:cNvPr>
          <p:cNvSpPr txBox="1"/>
          <p:nvPr/>
        </p:nvSpPr>
        <p:spPr>
          <a:xfrm>
            <a:off x="412955" y="385604"/>
            <a:ext cx="5171768" cy="523220"/>
          </a:xfrm>
          <a:prstGeom prst="rect">
            <a:avLst/>
          </a:prstGeom>
          <a:noFill/>
        </p:spPr>
        <p:txBody>
          <a:bodyPr wrap="square">
            <a:spAutoFit/>
          </a:bodyPr>
          <a:lstStyle/>
          <a:p>
            <a:pPr>
              <a:buNone/>
            </a:pPr>
            <a:r>
              <a:rPr lang="en-US" sz="2800" b="1"/>
              <a:t>5.Retrieve All Movies Data</a:t>
            </a:r>
          </a:p>
        </p:txBody>
      </p:sp>
      <p:pic>
        <p:nvPicPr>
          <p:cNvPr id="5" name="Picture 4">
            <a:extLst>
              <a:ext uri="{FF2B5EF4-FFF2-40B4-BE49-F238E27FC236}">
                <a16:creationId xmlns:a16="http://schemas.microsoft.com/office/drawing/2014/main" id="{63ABA5B5-E96F-97A2-097C-2E7DFA4EF0CE}"/>
              </a:ext>
            </a:extLst>
          </p:cNvPr>
          <p:cNvPicPr>
            <a:picLocks noChangeAspect="1"/>
          </p:cNvPicPr>
          <p:nvPr/>
        </p:nvPicPr>
        <p:blipFill>
          <a:blip r:embed="rId2"/>
          <a:stretch>
            <a:fillRect/>
          </a:stretch>
        </p:blipFill>
        <p:spPr>
          <a:xfrm>
            <a:off x="1455173" y="1248697"/>
            <a:ext cx="9085007" cy="4129548"/>
          </a:xfrm>
          <a:prstGeom prst="rect">
            <a:avLst/>
          </a:prstGeom>
        </p:spPr>
      </p:pic>
    </p:spTree>
    <p:extLst>
      <p:ext uri="{BB962C8B-B14F-4D97-AF65-F5344CB8AC3E}">
        <p14:creationId xmlns:p14="http://schemas.microsoft.com/office/powerpoint/2010/main" val="3233738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009138-686F-8903-92C2-826250C5ADBD}"/>
              </a:ext>
            </a:extLst>
          </p:cNvPr>
          <p:cNvSpPr txBox="1"/>
          <p:nvPr/>
        </p:nvSpPr>
        <p:spPr>
          <a:xfrm>
            <a:off x="314633" y="552753"/>
            <a:ext cx="6096000" cy="523220"/>
          </a:xfrm>
          <a:prstGeom prst="rect">
            <a:avLst/>
          </a:prstGeom>
          <a:noFill/>
        </p:spPr>
        <p:txBody>
          <a:bodyPr wrap="square">
            <a:spAutoFit/>
          </a:bodyPr>
          <a:lstStyle/>
          <a:p>
            <a:r>
              <a:rPr lang="en-US" sz="2800" b="1"/>
              <a:t>6.Retrieve All Directors Data</a:t>
            </a:r>
          </a:p>
        </p:txBody>
      </p:sp>
      <p:pic>
        <p:nvPicPr>
          <p:cNvPr id="5" name="Picture 4">
            <a:extLst>
              <a:ext uri="{FF2B5EF4-FFF2-40B4-BE49-F238E27FC236}">
                <a16:creationId xmlns:a16="http://schemas.microsoft.com/office/drawing/2014/main" id="{07B1D88D-1337-7598-96FA-3CDD08901A04}"/>
              </a:ext>
            </a:extLst>
          </p:cNvPr>
          <p:cNvPicPr>
            <a:picLocks noChangeAspect="1"/>
          </p:cNvPicPr>
          <p:nvPr/>
        </p:nvPicPr>
        <p:blipFill>
          <a:blip r:embed="rId2"/>
          <a:stretch>
            <a:fillRect/>
          </a:stretch>
        </p:blipFill>
        <p:spPr>
          <a:xfrm>
            <a:off x="1425676" y="1327356"/>
            <a:ext cx="9153833" cy="4326192"/>
          </a:xfrm>
          <a:prstGeom prst="rect">
            <a:avLst/>
          </a:prstGeom>
        </p:spPr>
      </p:pic>
    </p:spTree>
    <p:extLst>
      <p:ext uri="{BB962C8B-B14F-4D97-AF65-F5344CB8AC3E}">
        <p14:creationId xmlns:p14="http://schemas.microsoft.com/office/powerpoint/2010/main" val="36101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97865C-AFC0-6F6A-4E89-8D1BD3AECF0C}"/>
              </a:ext>
            </a:extLst>
          </p:cNvPr>
          <p:cNvSpPr txBox="1"/>
          <p:nvPr/>
        </p:nvSpPr>
        <p:spPr>
          <a:xfrm>
            <a:off x="511277" y="493760"/>
            <a:ext cx="7305368" cy="523220"/>
          </a:xfrm>
          <a:prstGeom prst="rect">
            <a:avLst/>
          </a:prstGeom>
          <a:noFill/>
        </p:spPr>
        <p:txBody>
          <a:bodyPr wrap="square">
            <a:spAutoFit/>
          </a:bodyPr>
          <a:lstStyle/>
          <a:p>
            <a:r>
              <a:rPr lang="en-US" sz="2800" b="1"/>
              <a:t>7.Count Total Number of Movies in IMDB</a:t>
            </a:r>
          </a:p>
        </p:txBody>
      </p:sp>
      <p:pic>
        <p:nvPicPr>
          <p:cNvPr id="5" name="Picture 4">
            <a:extLst>
              <a:ext uri="{FF2B5EF4-FFF2-40B4-BE49-F238E27FC236}">
                <a16:creationId xmlns:a16="http://schemas.microsoft.com/office/drawing/2014/main" id="{E01140A7-C278-2A33-214A-D2C4C0B373DC}"/>
              </a:ext>
            </a:extLst>
          </p:cNvPr>
          <p:cNvPicPr>
            <a:picLocks noChangeAspect="1"/>
          </p:cNvPicPr>
          <p:nvPr/>
        </p:nvPicPr>
        <p:blipFill>
          <a:blip r:embed="rId2"/>
          <a:stretch>
            <a:fillRect/>
          </a:stretch>
        </p:blipFill>
        <p:spPr>
          <a:xfrm>
            <a:off x="1838632" y="1612490"/>
            <a:ext cx="8642555" cy="3824749"/>
          </a:xfrm>
          <a:prstGeom prst="rect">
            <a:avLst/>
          </a:prstGeom>
        </p:spPr>
      </p:pic>
    </p:spTree>
    <p:extLst>
      <p:ext uri="{BB962C8B-B14F-4D97-AF65-F5344CB8AC3E}">
        <p14:creationId xmlns:p14="http://schemas.microsoft.com/office/powerpoint/2010/main" val="2944700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904038-4194-141E-9A5B-41965D1DC29C}"/>
              </a:ext>
            </a:extLst>
          </p:cNvPr>
          <p:cNvSpPr txBox="1"/>
          <p:nvPr/>
        </p:nvSpPr>
        <p:spPr>
          <a:xfrm>
            <a:off x="314631" y="561738"/>
            <a:ext cx="11110453" cy="523220"/>
          </a:xfrm>
          <a:prstGeom prst="rect">
            <a:avLst/>
          </a:prstGeom>
          <a:noFill/>
        </p:spPr>
        <p:txBody>
          <a:bodyPr wrap="square">
            <a:spAutoFit/>
          </a:bodyPr>
          <a:lstStyle/>
          <a:p>
            <a:pPr>
              <a:buNone/>
            </a:pPr>
            <a:r>
              <a:rPr lang="en-US" sz="2800" b="1"/>
              <a:t>8.Find Specific Directors (James Cameron, Luc Besson, John Woo)</a:t>
            </a:r>
          </a:p>
        </p:txBody>
      </p:sp>
      <p:pic>
        <p:nvPicPr>
          <p:cNvPr id="5" name="Picture 4">
            <a:extLst>
              <a:ext uri="{FF2B5EF4-FFF2-40B4-BE49-F238E27FC236}">
                <a16:creationId xmlns:a16="http://schemas.microsoft.com/office/drawing/2014/main" id="{87D27F44-C725-C6BB-2120-128184E4B95B}"/>
              </a:ext>
            </a:extLst>
          </p:cNvPr>
          <p:cNvPicPr>
            <a:picLocks noChangeAspect="1"/>
          </p:cNvPicPr>
          <p:nvPr/>
        </p:nvPicPr>
        <p:blipFill>
          <a:blip r:embed="rId2"/>
          <a:stretch>
            <a:fillRect/>
          </a:stretch>
        </p:blipFill>
        <p:spPr>
          <a:xfrm>
            <a:off x="1641987" y="1524000"/>
            <a:ext cx="8701548" cy="3932903"/>
          </a:xfrm>
          <a:prstGeom prst="rect">
            <a:avLst/>
          </a:prstGeom>
        </p:spPr>
      </p:pic>
    </p:spTree>
    <p:extLst>
      <p:ext uri="{BB962C8B-B14F-4D97-AF65-F5344CB8AC3E}">
        <p14:creationId xmlns:p14="http://schemas.microsoft.com/office/powerpoint/2010/main" val="4135948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262C9B-4AB9-91AE-A4B1-1F2CF7348DC5}"/>
              </a:ext>
            </a:extLst>
          </p:cNvPr>
          <p:cNvSpPr txBox="1"/>
          <p:nvPr/>
        </p:nvSpPr>
        <p:spPr>
          <a:xfrm>
            <a:off x="511276" y="572418"/>
            <a:ext cx="7649497" cy="523220"/>
          </a:xfrm>
          <a:prstGeom prst="rect">
            <a:avLst/>
          </a:prstGeom>
          <a:noFill/>
        </p:spPr>
        <p:txBody>
          <a:bodyPr wrap="square">
            <a:spAutoFit/>
          </a:bodyPr>
          <a:lstStyle/>
          <a:p>
            <a:r>
              <a:rPr lang="en-US" sz="2800" b="1"/>
              <a:t>9.Find Directors Whose Name Starts With 'S'</a:t>
            </a:r>
          </a:p>
        </p:txBody>
      </p:sp>
      <p:pic>
        <p:nvPicPr>
          <p:cNvPr id="5" name="Picture 4">
            <a:extLst>
              <a:ext uri="{FF2B5EF4-FFF2-40B4-BE49-F238E27FC236}">
                <a16:creationId xmlns:a16="http://schemas.microsoft.com/office/drawing/2014/main" id="{7944435A-3538-B8EE-D164-6BD619218559}"/>
              </a:ext>
            </a:extLst>
          </p:cNvPr>
          <p:cNvPicPr>
            <a:picLocks noChangeAspect="1"/>
          </p:cNvPicPr>
          <p:nvPr/>
        </p:nvPicPr>
        <p:blipFill>
          <a:blip r:embed="rId2"/>
          <a:stretch>
            <a:fillRect/>
          </a:stretch>
        </p:blipFill>
        <p:spPr>
          <a:xfrm>
            <a:off x="1818968" y="1592827"/>
            <a:ext cx="8652387" cy="3923070"/>
          </a:xfrm>
          <a:prstGeom prst="rect">
            <a:avLst/>
          </a:prstGeom>
        </p:spPr>
      </p:pic>
    </p:spTree>
    <p:extLst>
      <p:ext uri="{BB962C8B-B14F-4D97-AF65-F5344CB8AC3E}">
        <p14:creationId xmlns:p14="http://schemas.microsoft.com/office/powerpoint/2010/main" val="2453174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020F3E-E063-F503-79E6-8454D0EB8854}"/>
              </a:ext>
            </a:extLst>
          </p:cNvPr>
          <p:cNvSpPr txBox="1"/>
          <p:nvPr/>
        </p:nvSpPr>
        <p:spPr>
          <a:xfrm>
            <a:off x="580104" y="601914"/>
            <a:ext cx="6774426" cy="523220"/>
          </a:xfrm>
          <a:prstGeom prst="rect">
            <a:avLst/>
          </a:prstGeom>
          <a:noFill/>
        </p:spPr>
        <p:txBody>
          <a:bodyPr wrap="square">
            <a:spAutoFit/>
          </a:bodyPr>
          <a:lstStyle/>
          <a:p>
            <a:r>
              <a:rPr lang="en-US" sz="2800" b="1"/>
              <a:t>10.Count Number of Female Directors</a:t>
            </a:r>
          </a:p>
        </p:txBody>
      </p:sp>
      <p:pic>
        <p:nvPicPr>
          <p:cNvPr id="7" name="Picture 6">
            <a:extLst>
              <a:ext uri="{FF2B5EF4-FFF2-40B4-BE49-F238E27FC236}">
                <a16:creationId xmlns:a16="http://schemas.microsoft.com/office/drawing/2014/main" id="{439EDFF5-87A3-4997-1110-80FFCD910963}"/>
              </a:ext>
            </a:extLst>
          </p:cNvPr>
          <p:cNvPicPr>
            <a:picLocks noChangeAspect="1"/>
          </p:cNvPicPr>
          <p:nvPr/>
        </p:nvPicPr>
        <p:blipFill>
          <a:blip r:embed="rId2"/>
          <a:stretch>
            <a:fillRect/>
          </a:stretch>
        </p:blipFill>
        <p:spPr>
          <a:xfrm>
            <a:off x="1700981" y="1474839"/>
            <a:ext cx="8583561" cy="4031226"/>
          </a:xfrm>
          <a:prstGeom prst="rect">
            <a:avLst/>
          </a:prstGeom>
        </p:spPr>
      </p:pic>
    </p:spTree>
    <p:extLst>
      <p:ext uri="{BB962C8B-B14F-4D97-AF65-F5344CB8AC3E}">
        <p14:creationId xmlns:p14="http://schemas.microsoft.com/office/powerpoint/2010/main" val="965660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A7D19B-546A-73EA-2698-6E7B9F99A464}"/>
              </a:ext>
            </a:extLst>
          </p:cNvPr>
          <p:cNvSpPr txBox="1"/>
          <p:nvPr/>
        </p:nvSpPr>
        <p:spPr>
          <a:xfrm>
            <a:off x="511278" y="493760"/>
            <a:ext cx="6096000" cy="523220"/>
          </a:xfrm>
          <a:prstGeom prst="rect">
            <a:avLst/>
          </a:prstGeom>
          <a:noFill/>
        </p:spPr>
        <p:txBody>
          <a:bodyPr wrap="square">
            <a:spAutoFit/>
          </a:bodyPr>
          <a:lstStyle/>
          <a:p>
            <a:r>
              <a:rPr lang="en-US" sz="2800" b="1"/>
              <a:t>11.Find the 10th Female Director</a:t>
            </a:r>
          </a:p>
        </p:txBody>
      </p:sp>
      <p:pic>
        <p:nvPicPr>
          <p:cNvPr id="5" name="Picture 4">
            <a:extLst>
              <a:ext uri="{FF2B5EF4-FFF2-40B4-BE49-F238E27FC236}">
                <a16:creationId xmlns:a16="http://schemas.microsoft.com/office/drawing/2014/main" id="{222EAD97-A5EB-2D83-D244-AD53B544AC1E}"/>
              </a:ext>
            </a:extLst>
          </p:cNvPr>
          <p:cNvPicPr>
            <a:picLocks noChangeAspect="1"/>
          </p:cNvPicPr>
          <p:nvPr/>
        </p:nvPicPr>
        <p:blipFill>
          <a:blip r:embed="rId2"/>
          <a:stretch>
            <a:fillRect/>
          </a:stretch>
        </p:blipFill>
        <p:spPr>
          <a:xfrm>
            <a:off x="1720645" y="1573161"/>
            <a:ext cx="8681884" cy="3687097"/>
          </a:xfrm>
          <a:prstGeom prst="rect">
            <a:avLst/>
          </a:prstGeom>
        </p:spPr>
      </p:pic>
    </p:spTree>
    <p:extLst>
      <p:ext uri="{BB962C8B-B14F-4D97-AF65-F5344CB8AC3E}">
        <p14:creationId xmlns:p14="http://schemas.microsoft.com/office/powerpoint/2010/main" val="770095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5C6AD5-66C5-2580-87E9-20EBE1806190}"/>
              </a:ext>
            </a:extLst>
          </p:cNvPr>
          <p:cNvSpPr txBox="1"/>
          <p:nvPr/>
        </p:nvSpPr>
        <p:spPr>
          <a:xfrm>
            <a:off x="530941" y="464263"/>
            <a:ext cx="7344697" cy="523220"/>
          </a:xfrm>
          <a:prstGeom prst="rect">
            <a:avLst/>
          </a:prstGeom>
          <a:noFill/>
        </p:spPr>
        <p:txBody>
          <a:bodyPr wrap="square">
            <a:spAutoFit/>
          </a:bodyPr>
          <a:lstStyle/>
          <a:p>
            <a:pPr>
              <a:buNone/>
            </a:pPr>
            <a:r>
              <a:rPr lang="en-US" sz="2800" b="1"/>
              <a:t>12.Find the Top 3 Most Popular Movies</a:t>
            </a:r>
          </a:p>
        </p:txBody>
      </p:sp>
      <p:pic>
        <p:nvPicPr>
          <p:cNvPr id="5" name="Picture 4">
            <a:extLst>
              <a:ext uri="{FF2B5EF4-FFF2-40B4-BE49-F238E27FC236}">
                <a16:creationId xmlns:a16="http://schemas.microsoft.com/office/drawing/2014/main" id="{F935EEA6-C93D-824D-1D6C-B5F0ECFEAA75}"/>
              </a:ext>
            </a:extLst>
          </p:cNvPr>
          <p:cNvPicPr>
            <a:picLocks noChangeAspect="1"/>
          </p:cNvPicPr>
          <p:nvPr/>
        </p:nvPicPr>
        <p:blipFill>
          <a:blip r:embed="rId2"/>
          <a:stretch>
            <a:fillRect/>
          </a:stretch>
        </p:blipFill>
        <p:spPr>
          <a:xfrm>
            <a:off x="1779638" y="1327355"/>
            <a:ext cx="8573729" cy="3903405"/>
          </a:xfrm>
          <a:prstGeom prst="rect">
            <a:avLst/>
          </a:prstGeom>
        </p:spPr>
      </p:pic>
    </p:spTree>
    <p:extLst>
      <p:ext uri="{BB962C8B-B14F-4D97-AF65-F5344CB8AC3E}">
        <p14:creationId xmlns:p14="http://schemas.microsoft.com/office/powerpoint/2010/main" val="3200334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7EB565-110A-70F9-631A-EC094656C5EF}"/>
              </a:ext>
            </a:extLst>
          </p:cNvPr>
          <p:cNvSpPr txBox="1"/>
          <p:nvPr/>
        </p:nvSpPr>
        <p:spPr>
          <a:xfrm>
            <a:off x="688258" y="739567"/>
            <a:ext cx="7728155" cy="523220"/>
          </a:xfrm>
          <a:prstGeom prst="rect">
            <a:avLst/>
          </a:prstGeom>
          <a:noFill/>
        </p:spPr>
        <p:txBody>
          <a:bodyPr wrap="square">
            <a:spAutoFit/>
          </a:bodyPr>
          <a:lstStyle/>
          <a:p>
            <a:r>
              <a:rPr lang="en-US" sz="2800" b="1"/>
              <a:t>13.Find the Top 3 Most Bankable Movies</a:t>
            </a:r>
          </a:p>
        </p:txBody>
      </p:sp>
      <p:pic>
        <p:nvPicPr>
          <p:cNvPr id="5" name="Picture 4">
            <a:extLst>
              <a:ext uri="{FF2B5EF4-FFF2-40B4-BE49-F238E27FC236}">
                <a16:creationId xmlns:a16="http://schemas.microsoft.com/office/drawing/2014/main" id="{970D9671-2239-00D5-2C74-30D7BB779BD6}"/>
              </a:ext>
            </a:extLst>
          </p:cNvPr>
          <p:cNvPicPr>
            <a:picLocks noChangeAspect="1"/>
          </p:cNvPicPr>
          <p:nvPr/>
        </p:nvPicPr>
        <p:blipFill>
          <a:blip r:embed="rId2"/>
          <a:stretch>
            <a:fillRect/>
          </a:stretch>
        </p:blipFill>
        <p:spPr>
          <a:xfrm>
            <a:off x="1828799" y="1786747"/>
            <a:ext cx="8652387" cy="3650492"/>
          </a:xfrm>
          <a:prstGeom prst="rect">
            <a:avLst/>
          </a:prstGeom>
        </p:spPr>
      </p:pic>
    </p:spTree>
    <p:extLst>
      <p:ext uri="{BB962C8B-B14F-4D97-AF65-F5344CB8AC3E}">
        <p14:creationId xmlns:p14="http://schemas.microsoft.com/office/powerpoint/2010/main" val="1560494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D2BC1C-4962-B96B-C26A-515998F52E09}"/>
              </a:ext>
            </a:extLst>
          </p:cNvPr>
          <p:cNvSpPr txBox="1"/>
          <p:nvPr/>
        </p:nvSpPr>
        <p:spPr>
          <a:xfrm>
            <a:off x="501444" y="631411"/>
            <a:ext cx="9340646" cy="523220"/>
          </a:xfrm>
          <a:prstGeom prst="rect">
            <a:avLst/>
          </a:prstGeom>
          <a:noFill/>
        </p:spPr>
        <p:txBody>
          <a:bodyPr wrap="square">
            <a:spAutoFit/>
          </a:bodyPr>
          <a:lstStyle/>
          <a:p>
            <a:r>
              <a:rPr lang="en-US" sz="2800" b="1"/>
              <a:t>14.Find the Highest Rated Movie Since January 1, 2000</a:t>
            </a:r>
          </a:p>
        </p:txBody>
      </p:sp>
      <p:pic>
        <p:nvPicPr>
          <p:cNvPr id="5" name="Picture 4">
            <a:extLst>
              <a:ext uri="{FF2B5EF4-FFF2-40B4-BE49-F238E27FC236}">
                <a16:creationId xmlns:a16="http://schemas.microsoft.com/office/drawing/2014/main" id="{37B13D9F-28B5-C6A3-5261-EF1B7E925B86}"/>
              </a:ext>
            </a:extLst>
          </p:cNvPr>
          <p:cNvPicPr>
            <a:picLocks noChangeAspect="1"/>
          </p:cNvPicPr>
          <p:nvPr/>
        </p:nvPicPr>
        <p:blipFill>
          <a:blip r:embed="rId2"/>
          <a:stretch>
            <a:fillRect/>
          </a:stretch>
        </p:blipFill>
        <p:spPr>
          <a:xfrm>
            <a:off x="1268360" y="1573161"/>
            <a:ext cx="9714271" cy="4100051"/>
          </a:xfrm>
          <a:prstGeom prst="rect">
            <a:avLst/>
          </a:prstGeom>
        </p:spPr>
      </p:pic>
    </p:spTree>
    <p:extLst>
      <p:ext uri="{BB962C8B-B14F-4D97-AF65-F5344CB8AC3E}">
        <p14:creationId xmlns:p14="http://schemas.microsoft.com/office/powerpoint/2010/main" val="1512232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8B5DBF-7EE0-559A-A56E-4370B7514C8D}"/>
              </a:ext>
            </a:extLst>
          </p:cNvPr>
          <p:cNvSpPr txBox="1"/>
          <p:nvPr/>
        </p:nvSpPr>
        <p:spPr>
          <a:xfrm>
            <a:off x="766916" y="592083"/>
            <a:ext cx="8082116" cy="523220"/>
          </a:xfrm>
          <a:prstGeom prst="rect">
            <a:avLst/>
          </a:prstGeom>
          <a:noFill/>
        </p:spPr>
        <p:txBody>
          <a:bodyPr wrap="square">
            <a:spAutoFit/>
          </a:bodyPr>
          <a:lstStyle/>
          <a:p>
            <a:pPr>
              <a:buNone/>
            </a:pPr>
            <a:r>
              <a:rPr lang="en-US" sz="2800" b="1"/>
              <a:t>15.Find Movies Directed by Brenda Chapman</a:t>
            </a:r>
          </a:p>
        </p:txBody>
      </p:sp>
      <p:pic>
        <p:nvPicPr>
          <p:cNvPr id="5" name="Picture 4">
            <a:extLst>
              <a:ext uri="{FF2B5EF4-FFF2-40B4-BE49-F238E27FC236}">
                <a16:creationId xmlns:a16="http://schemas.microsoft.com/office/drawing/2014/main" id="{509170FA-F89A-3478-35C9-15B5A3096E53}"/>
              </a:ext>
            </a:extLst>
          </p:cNvPr>
          <p:cNvPicPr>
            <a:picLocks noChangeAspect="1"/>
          </p:cNvPicPr>
          <p:nvPr/>
        </p:nvPicPr>
        <p:blipFill>
          <a:blip r:embed="rId2"/>
          <a:stretch>
            <a:fillRect/>
          </a:stretch>
        </p:blipFill>
        <p:spPr>
          <a:xfrm>
            <a:off x="1445341" y="1582994"/>
            <a:ext cx="9035845" cy="4060722"/>
          </a:xfrm>
          <a:prstGeom prst="rect">
            <a:avLst/>
          </a:prstGeom>
        </p:spPr>
      </p:pic>
    </p:spTree>
    <p:extLst>
      <p:ext uri="{BB962C8B-B14F-4D97-AF65-F5344CB8AC3E}">
        <p14:creationId xmlns:p14="http://schemas.microsoft.com/office/powerpoint/2010/main" val="4000673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1FDC38-CE6C-96FC-CE3D-CA0599F0472B}"/>
              </a:ext>
            </a:extLst>
          </p:cNvPr>
          <p:cNvSpPr txBox="1"/>
          <p:nvPr/>
        </p:nvSpPr>
        <p:spPr>
          <a:xfrm>
            <a:off x="648928" y="631412"/>
            <a:ext cx="7875639" cy="523220"/>
          </a:xfrm>
          <a:prstGeom prst="rect">
            <a:avLst/>
          </a:prstGeom>
          <a:noFill/>
        </p:spPr>
        <p:txBody>
          <a:bodyPr wrap="square">
            <a:spAutoFit/>
          </a:bodyPr>
          <a:lstStyle/>
          <a:p>
            <a:r>
              <a:rPr lang="en-US" sz="2800" b="1"/>
              <a:t>16.Find the Director Who Made the Most Movies</a:t>
            </a:r>
          </a:p>
        </p:txBody>
      </p:sp>
      <p:pic>
        <p:nvPicPr>
          <p:cNvPr id="5" name="Picture 4">
            <a:extLst>
              <a:ext uri="{FF2B5EF4-FFF2-40B4-BE49-F238E27FC236}">
                <a16:creationId xmlns:a16="http://schemas.microsoft.com/office/drawing/2014/main" id="{E81988BF-7F5A-08B6-57C8-5A05FBF77C8D}"/>
              </a:ext>
            </a:extLst>
          </p:cNvPr>
          <p:cNvPicPr>
            <a:picLocks noChangeAspect="1"/>
          </p:cNvPicPr>
          <p:nvPr/>
        </p:nvPicPr>
        <p:blipFill>
          <a:blip r:embed="rId2"/>
          <a:stretch>
            <a:fillRect/>
          </a:stretch>
        </p:blipFill>
        <p:spPr>
          <a:xfrm>
            <a:off x="1828800" y="1424766"/>
            <a:ext cx="8721213" cy="4248447"/>
          </a:xfrm>
          <a:prstGeom prst="rect">
            <a:avLst/>
          </a:prstGeom>
        </p:spPr>
      </p:pic>
    </p:spTree>
    <p:extLst>
      <p:ext uri="{BB962C8B-B14F-4D97-AF65-F5344CB8AC3E}">
        <p14:creationId xmlns:p14="http://schemas.microsoft.com/office/powerpoint/2010/main" val="4251062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C8935E-3E6D-2FE0-D860-121FCE50EEED}"/>
              </a:ext>
            </a:extLst>
          </p:cNvPr>
          <p:cNvSpPr txBox="1"/>
          <p:nvPr/>
        </p:nvSpPr>
        <p:spPr>
          <a:xfrm>
            <a:off x="786581" y="562585"/>
            <a:ext cx="6784258" cy="523220"/>
          </a:xfrm>
          <a:prstGeom prst="rect">
            <a:avLst/>
          </a:prstGeom>
          <a:noFill/>
        </p:spPr>
        <p:txBody>
          <a:bodyPr wrap="square">
            <a:spAutoFit/>
          </a:bodyPr>
          <a:lstStyle/>
          <a:p>
            <a:r>
              <a:rPr lang="en-US" sz="2800" b="1"/>
              <a:t>16.Find the Most Bankable Director</a:t>
            </a:r>
          </a:p>
        </p:txBody>
      </p:sp>
      <p:pic>
        <p:nvPicPr>
          <p:cNvPr id="5" name="Picture 4">
            <a:extLst>
              <a:ext uri="{FF2B5EF4-FFF2-40B4-BE49-F238E27FC236}">
                <a16:creationId xmlns:a16="http://schemas.microsoft.com/office/drawing/2014/main" id="{906B6390-21C0-CAD0-864E-741E3D107113}"/>
              </a:ext>
            </a:extLst>
          </p:cNvPr>
          <p:cNvPicPr>
            <a:picLocks noChangeAspect="1"/>
          </p:cNvPicPr>
          <p:nvPr/>
        </p:nvPicPr>
        <p:blipFill>
          <a:blip r:embed="rId2"/>
          <a:stretch>
            <a:fillRect/>
          </a:stretch>
        </p:blipFill>
        <p:spPr>
          <a:xfrm>
            <a:off x="1779639" y="1398093"/>
            <a:ext cx="8642555" cy="4107971"/>
          </a:xfrm>
          <a:prstGeom prst="rect">
            <a:avLst/>
          </a:prstGeom>
        </p:spPr>
      </p:pic>
    </p:spTree>
    <p:extLst>
      <p:ext uri="{BB962C8B-B14F-4D97-AF65-F5344CB8AC3E}">
        <p14:creationId xmlns:p14="http://schemas.microsoft.com/office/powerpoint/2010/main" val="2095701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BB6B06-E3BE-9C1B-9D65-A5C53499F324}"/>
              </a:ext>
            </a:extLst>
          </p:cNvPr>
          <p:cNvSpPr txBox="1"/>
          <p:nvPr/>
        </p:nvSpPr>
        <p:spPr>
          <a:xfrm>
            <a:off x="757083" y="661843"/>
            <a:ext cx="3451123" cy="523220"/>
          </a:xfrm>
          <a:prstGeom prst="rect">
            <a:avLst/>
          </a:prstGeom>
          <a:noFill/>
        </p:spPr>
        <p:txBody>
          <a:bodyPr wrap="square">
            <a:spAutoFit/>
          </a:bodyPr>
          <a:lstStyle/>
          <a:p>
            <a:pPr>
              <a:buNone/>
            </a:pPr>
            <a:r>
              <a:rPr lang="en-US" sz="2800" b="1"/>
              <a:t>17.Key Insights</a:t>
            </a:r>
          </a:p>
        </p:txBody>
      </p:sp>
      <p:sp>
        <p:nvSpPr>
          <p:cNvPr id="4" name="Rectangle 1">
            <a:extLst>
              <a:ext uri="{FF2B5EF4-FFF2-40B4-BE49-F238E27FC236}">
                <a16:creationId xmlns:a16="http://schemas.microsoft.com/office/drawing/2014/main" id="{37051E72-F80C-4BA2-AC43-2DDA4396E128}"/>
              </a:ext>
            </a:extLst>
          </p:cNvPr>
          <p:cNvSpPr>
            <a:spLocks noChangeArrowheads="1"/>
          </p:cNvSpPr>
          <p:nvPr/>
        </p:nvSpPr>
        <p:spPr bwMode="auto">
          <a:xfrm>
            <a:off x="1081548" y="1493254"/>
            <a:ext cx="1011739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Arial" panose="020B0604020202020204" pitchFamily="34" charset="0"/>
              </a:rPr>
              <a:t>1. Comprehensive Movie Records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IMDB database contains a large collection of movies with detailed attributes such as popularity, revenue, ratings, and release 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helps in analyzing movie success from both </a:t>
            </a:r>
            <a:r>
              <a:rPr kumimoji="0" lang="en-US" altLang="en-US" sz="1800" b="1" i="0" u="none" strike="noStrike" cap="none" normalizeH="0" baseline="0">
                <a:ln>
                  <a:noFill/>
                </a:ln>
                <a:solidFill>
                  <a:schemeClr val="tx1"/>
                </a:solidFill>
                <a:effectLst/>
                <a:latin typeface="Arial" panose="020B0604020202020204" pitchFamily="34" charset="0"/>
              </a:rPr>
              <a:t>audience</a:t>
            </a:r>
            <a:r>
              <a:rPr kumimoji="0" lang="en-US" altLang="en-US" sz="1800" b="0" i="0" u="none" strike="noStrike" cap="none" normalizeH="0" baseline="0">
                <a:ln>
                  <a:noFill/>
                </a:ln>
                <a:solidFill>
                  <a:schemeClr val="tx1"/>
                </a:solidFill>
                <a:effectLst/>
                <a:latin typeface="Arial" panose="020B0604020202020204" pitchFamily="34" charset="0"/>
              </a:rPr>
              <a:t> and </a:t>
            </a:r>
            <a:r>
              <a:rPr kumimoji="0" lang="en-US" altLang="en-US" sz="1800" b="1" i="0" u="none" strike="noStrike" cap="none" normalizeH="0" baseline="0">
                <a:ln>
                  <a:noFill/>
                </a:ln>
                <a:solidFill>
                  <a:schemeClr val="tx1"/>
                </a:solidFill>
                <a:effectLst/>
                <a:latin typeface="Arial" panose="020B0604020202020204" pitchFamily="34" charset="0"/>
              </a:rPr>
              <a:t>business</a:t>
            </a:r>
            <a:r>
              <a:rPr kumimoji="0" lang="en-US" altLang="en-US" sz="1800" b="0" i="0" u="none" strike="noStrike" cap="none" normalizeH="0" baseline="0">
                <a:ln>
                  <a:noFill/>
                </a:ln>
                <a:solidFill>
                  <a:schemeClr val="tx1"/>
                </a:solidFill>
                <a:effectLst/>
                <a:latin typeface="Arial" panose="020B0604020202020204" pitchFamily="34" charset="0"/>
              </a:rPr>
              <a:t> perspectives.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Arial" panose="020B0604020202020204" pitchFamily="34" charset="0"/>
              </a:rPr>
              <a:t>2. Director Diversity Analysis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Directors table enables gender-based and name-based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Female directors are significantly fewer compared to male directors, indicating a </a:t>
            </a:r>
            <a:r>
              <a:rPr kumimoji="0" lang="en-US" altLang="en-US" sz="1800" b="1" i="0" u="none" strike="noStrike" cap="none" normalizeH="0" baseline="0">
                <a:ln>
                  <a:noFill/>
                </a:ln>
                <a:solidFill>
                  <a:schemeClr val="tx1"/>
                </a:solidFill>
                <a:effectLst/>
                <a:latin typeface="Arial" panose="020B0604020202020204" pitchFamily="34" charset="0"/>
              </a:rPr>
              <a:t>gender imbalance</a:t>
            </a:r>
            <a:r>
              <a:rPr kumimoji="0" lang="en-US" altLang="en-US" sz="1800" b="0" i="0" u="none" strike="noStrike" cap="none" normalizeH="0" baseline="0">
                <a:ln>
                  <a:noFill/>
                </a:ln>
                <a:solidFill>
                  <a:schemeClr val="tx1"/>
                </a:solidFill>
                <a:effectLst/>
                <a:latin typeface="Arial" panose="020B0604020202020204" pitchFamily="34" charset="0"/>
              </a:rPr>
              <a:t> in the film industry.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Arial" panose="020B0604020202020204" pitchFamily="34" charset="0"/>
              </a:rPr>
              <a:t>3. Popular vs Bankable Movies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most popular movies (high popularity score) are not always the most bankable (high revenue).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Popularity reflects </a:t>
            </a:r>
            <a:r>
              <a:rPr kumimoji="0" lang="en-US" altLang="en-US" sz="1800" b="1" i="0" u="none" strike="noStrike" cap="none" normalizeH="0" baseline="0">
                <a:ln>
                  <a:noFill/>
                </a:ln>
                <a:solidFill>
                  <a:schemeClr val="tx1"/>
                </a:solidFill>
                <a:effectLst/>
                <a:latin typeface="Arial" panose="020B0604020202020204" pitchFamily="34" charset="0"/>
              </a:rPr>
              <a:t>audience interest</a:t>
            </a:r>
            <a:r>
              <a:rPr kumimoji="0" lang="en-US" altLang="en-US" sz="1800" b="0" i="0" u="none" strike="noStrike" cap="none" normalizeH="0" baseline="0">
                <a:ln>
                  <a:noFill/>
                </a:ln>
                <a:solidFill>
                  <a:schemeClr val="tx1"/>
                </a:solidFill>
                <a:effectLst/>
                <a:latin typeface="Arial" panose="020B0604020202020204" pitchFamily="34" charset="0"/>
              </a:rPr>
              <a:t>, while revenue reflects </a:t>
            </a:r>
            <a:r>
              <a:rPr kumimoji="0" lang="en-US" altLang="en-US" sz="1800" b="1" i="0" u="none" strike="noStrike" cap="none" normalizeH="0" baseline="0">
                <a:ln>
                  <a:noFill/>
                </a:ln>
                <a:solidFill>
                  <a:schemeClr val="tx1"/>
                </a:solidFill>
                <a:effectLst/>
                <a:latin typeface="Arial" panose="020B0604020202020204" pitchFamily="34" charset="0"/>
              </a:rPr>
              <a:t>commercial success</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87717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7F43D-79C2-33D9-D374-317BBFC2508F}"/>
              </a:ext>
            </a:extLst>
          </p:cNvPr>
          <p:cNvSpPr>
            <a:spLocks noChangeArrowheads="1"/>
          </p:cNvSpPr>
          <p:nvPr/>
        </p:nvSpPr>
        <p:spPr bwMode="auto">
          <a:xfrm>
            <a:off x="1425676" y="1106239"/>
            <a:ext cx="917349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Arial" panose="020B0604020202020204" pitchFamily="34" charset="0"/>
              </a:rPr>
              <a:t>4. Post-2000 Movie Quality Trend</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Movies released after January 1, 2000 show higher average vote ratings.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suggests improvement in </a:t>
            </a:r>
            <a:r>
              <a:rPr kumimoji="0" lang="en-US" altLang="en-US" sz="1800" b="1" i="0" u="none" strike="noStrike" cap="none" normalizeH="0" baseline="0">
                <a:ln>
                  <a:noFill/>
                </a:ln>
                <a:solidFill>
                  <a:schemeClr val="tx1"/>
                </a:solidFill>
                <a:effectLst/>
                <a:latin typeface="Arial" panose="020B0604020202020204" pitchFamily="34" charset="0"/>
              </a:rPr>
              <a:t>content quality, technology, and audience engagement</a:t>
            </a:r>
            <a:r>
              <a:rPr kumimoji="0" lang="en-US" altLang="en-US" sz="1800" b="0" i="0" u="none" strike="noStrike" cap="none" normalizeH="0" baseline="0">
                <a:ln>
                  <a:noFill/>
                </a:ln>
                <a:solidFill>
                  <a:schemeClr val="tx1"/>
                </a:solidFill>
                <a:effectLst/>
                <a:latin typeface="Arial" panose="020B0604020202020204" pitchFamily="34" charset="0"/>
              </a:rPr>
              <a:t> in modern cinema.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Arial" panose="020B0604020202020204" pitchFamily="34" charset="0"/>
              </a:rPr>
              <a:t>5. Director Influence on Movie Success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Certain directors have directed multiple movies, showing strong dominance in the industry.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Directors with more movies often contribute consistently to the IMDB database.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Arial" panose="020B0604020202020204" pitchFamily="34" charset="0"/>
              </a:rPr>
              <a:t>6. Most Bankable Director Impact</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most bankable director generates the highest cumulative revenue across all movies.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highlights the importance of </a:t>
            </a:r>
            <a:r>
              <a:rPr kumimoji="0" lang="en-US" altLang="en-US" sz="1800" b="1" i="0" u="none" strike="noStrike" cap="none" normalizeH="0" baseline="0">
                <a:ln>
                  <a:noFill/>
                </a:ln>
                <a:solidFill>
                  <a:schemeClr val="tx1"/>
                </a:solidFill>
                <a:effectLst/>
                <a:latin typeface="Arial" panose="020B0604020202020204" pitchFamily="34" charset="0"/>
              </a:rPr>
              <a:t>director reputation</a:t>
            </a:r>
            <a:r>
              <a:rPr kumimoji="0" lang="en-US" altLang="en-US" sz="1800" b="0" i="0" u="none" strike="noStrike" cap="none" normalizeH="0" baseline="0">
                <a:ln>
                  <a:noFill/>
                </a:ln>
                <a:solidFill>
                  <a:schemeClr val="tx1"/>
                </a:solidFill>
                <a:effectLst/>
                <a:latin typeface="Arial" panose="020B0604020202020204" pitchFamily="34" charset="0"/>
              </a:rPr>
              <a:t> in a movie’s financial success.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11586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4638F7-2261-E2F5-D7AF-A17E00B50B0A}"/>
              </a:ext>
            </a:extLst>
          </p:cNvPr>
          <p:cNvSpPr txBox="1"/>
          <p:nvPr/>
        </p:nvSpPr>
        <p:spPr>
          <a:xfrm>
            <a:off x="1602659" y="1096577"/>
            <a:ext cx="8495070" cy="2585323"/>
          </a:xfrm>
          <a:prstGeom prst="rect">
            <a:avLst/>
          </a:prstGeom>
          <a:noFill/>
        </p:spPr>
        <p:txBody>
          <a:bodyPr wrap="square">
            <a:spAutoFit/>
          </a:bodyPr>
          <a:lstStyle/>
          <a:p>
            <a:r>
              <a:rPr lang="en-US" b="1"/>
              <a:t>7. Female Director Contributions</a:t>
            </a:r>
            <a:endParaRPr lang="en-US"/>
          </a:p>
          <a:p>
            <a:pPr marL="742950" lvl="1" indent="-285750">
              <a:buFont typeface="+mj-lt"/>
              <a:buAutoNum type="arabicPeriod"/>
            </a:pPr>
            <a:r>
              <a:rPr lang="en-US"/>
              <a:t>Even though the number of female directors is low, their movies maintain competitive ratings.</a:t>
            </a:r>
          </a:p>
          <a:p>
            <a:pPr marL="742950" lvl="1" indent="-285750">
              <a:buFont typeface="+mj-lt"/>
              <a:buAutoNum type="arabicPeriod"/>
            </a:pPr>
            <a:r>
              <a:rPr lang="en-US"/>
              <a:t>This indicates </a:t>
            </a:r>
            <a:r>
              <a:rPr lang="en-US" b="1"/>
              <a:t>quality over quantity</a:t>
            </a:r>
            <a:r>
              <a:rPr lang="en-US"/>
              <a:t> in their contributions.</a:t>
            </a:r>
          </a:p>
          <a:p>
            <a:pPr marL="742950" lvl="1" indent="-285750">
              <a:buFont typeface="+mj-lt"/>
              <a:buAutoNum type="arabicPeriod"/>
            </a:pPr>
            <a:endParaRPr lang="en-US"/>
          </a:p>
          <a:p>
            <a:r>
              <a:rPr lang="en-US" b="1"/>
              <a:t>8. Targeted Director Search Capability</a:t>
            </a:r>
            <a:endParaRPr lang="en-US"/>
          </a:p>
          <a:p>
            <a:pPr marL="742950" lvl="1" indent="-285750">
              <a:buFont typeface="+mj-lt"/>
              <a:buAutoNum type="arabicPeriod"/>
            </a:pPr>
            <a:r>
              <a:rPr lang="en-US"/>
              <a:t>Searching directors by name or starting letter helps in quick filtering and data retrieval.</a:t>
            </a:r>
          </a:p>
          <a:p>
            <a:pPr marL="742950" lvl="1" indent="-285750">
              <a:buFont typeface="+mj-lt"/>
              <a:buAutoNum type="arabicPeriod"/>
            </a:pPr>
            <a:r>
              <a:rPr lang="en-US"/>
              <a:t>Useful for casting, research, and analytical reporting.</a:t>
            </a:r>
          </a:p>
        </p:txBody>
      </p:sp>
      <p:sp>
        <p:nvSpPr>
          <p:cNvPr id="5" name="TextBox 4">
            <a:extLst>
              <a:ext uri="{FF2B5EF4-FFF2-40B4-BE49-F238E27FC236}">
                <a16:creationId xmlns:a16="http://schemas.microsoft.com/office/drawing/2014/main" id="{49B3CB49-939E-E23C-3433-AF7FBD7C0E9D}"/>
              </a:ext>
            </a:extLst>
          </p:cNvPr>
          <p:cNvSpPr txBox="1"/>
          <p:nvPr/>
        </p:nvSpPr>
        <p:spPr>
          <a:xfrm>
            <a:off x="1602659" y="4207810"/>
            <a:ext cx="8957185" cy="923330"/>
          </a:xfrm>
          <a:prstGeom prst="rect">
            <a:avLst/>
          </a:prstGeom>
          <a:noFill/>
        </p:spPr>
        <p:txBody>
          <a:bodyPr wrap="square">
            <a:spAutoFit/>
          </a:bodyPr>
          <a:lstStyle/>
          <a:p>
            <a:pPr>
              <a:buNone/>
            </a:pPr>
            <a:r>
              <a:rPr lang="en-US"/>
              <a:t>The IMDB database effectively supports </a:t>
            </a:r>
            <a:r>
              <a:rPr lang="en-US" b="1"/>
              <a:t>movie performance analysis, director impact evaluation, and industry trend identification</a:t>
            </a:r>
            <a:r>
              <a:rPr lang="en-US"/>
              <a:t>, making it a powerful tool for data-driven decision-making in the film industry.</a:t>
            </a:r>
          </a:p>
        </p:txBody>
      </p:sp>
    </p:spTree>
    <p:extLst>
      <p:ext uri="{BB962C8B-B14F-4D97-AF65-F5344CB8AC3E}">
        <p14:creationId xmlns:p14="http://schemas.microsoft.com/office/powerpoint/2010/main" val="1799116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4E0D8A-D5FF-63EC-B133-D665E53CAD89}"/>
              </a:ext>
            </a:extLst>
          </p:cNvPr>
          <p:cNvSpPr txBox="1"/>
          <p:nvPr/>
        </p:nvSpPr>
        <p:spPr>
          <a:xfrm>
            <a:off x="678425" y="402194"/>
            <a:ext cx="6096000" cy="523220"/>
          </a:xfrm>
          <a:prstGeom prst="rect">
            <a:avLst/>
          </a:prstGeom>
          <a:noFill/>
        </p:spPr>
        <p:txBody>
          <a:bodyPr wrap="square">
            <a:spAutoFit/>
          </a:bodyPr>
          <a:lstStyle/>
          <a:p>
            <a:r>
              <a:rPr lang="en-US" sz="2800" b="1"/>
              <a:t>18.Skills Demonstrated</a:t>
            </a:r>
          </a:p>
        </p:txBody>
      </p:sp>
      <p:sp>
        <p:nvSpPr>
          <p:cNvPr id="7" name="Rectangle 2">
            <a:extLst>
              <a:ext uri="{FF2B5EF4-FFF2-40B4-BE49-F238E27FC236}">
                <a16:creationId xmlns:a16="http://schemas.microsoft.com/office/drawing/2014/main" id="{1477821E-DDCA-8A59-7C8A-E3C301D75CFC}"/>
              </a:ext>
            </a:extLst>
          </p:cNvPr>
          <p:cNvSpPr>
            <a:spLocks noChangeArrowheads="1"/>
          </p:cNvSpPr>
          <p:nvPr/>
        </p:nvSpPr>
        <p:spPr bwMode="auto">
          <a:xfrm>
            <a:off x="1681317" y="1130838"/>
            <a:ext cx="9193162"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SQL Query Writing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Ability to write basic and advanced SQL queries using </a:t>
            </a:r>
            <a:r>
              <a:rPr kumimoji="0" lang="en-US" altLang="en-US" sz="1000" b="0" i="0" u="none" strike="noStrike" cap="none" normalizeH="0" baseline="0">
                <a:ln>
                  <a:noFill/>
                </a:ln>
                <a:solidFill>
                  <a:schemeClr val="tx1"/>
                </a:solidFill>
                <a:effectLst/>
                <a:latin typeface="Arial Unicode MS"/>
              </a:rPr>
              <a:t>SELECT</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WHERE</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JOIN</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GROUP BY</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ORDER BY</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LIMIT</a:t>
            </a:r>
            <a:r>
              <a:rPr kumimoji="0" lang="en-US" altLang="en-US" sz="800" b="0" i="0" u="none" strike="noStrike" cap="none" normalizeH="0" baseline="0">
                <a:ln>
                  <a:noFill/>
                </a:ln>
                <a:solidFill>
                  <a:schemeClr val="tx1"/>
                </a:solidFill>
                <a:effectLst/>
              </a:rPr>
              <a:t>, and </a:t>
            </a:r>
            <a:r>
              <a:rPr kumimoji="0" lang="en-US" altLang="en-US" sz="1000" b="0" i="0" u="none" strike="noStrike" cap="none" normalizeH="0" baseline="0">
                <a:ln>
                  <a:noFill/>
                </a:ln>
                <a:solidFill>
                  <a:schemeClr val="tx1"/>
                </a:solidFill>
                <a:effectLst/>
                <a:latin typeface="Arial Unicode MS"/>
              </a:rPr>
              <a:t>OFFSET</a:t>
            </a:r>
            <a:r>
              <a:rPr kumimoji="0" lang="en-US" altLang="en-US" sz="800" b="0" i="0" u="none" strike="noStrike" cap="none" normalizeH="0" baseline="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Relational Database Understanding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Strong understanding of relational database concepts such as </a:t>
            </a:r>
            <a:r>
              <a:rPr kumimoji="0" lang="en-US" altLang="en-US" sz="1800" b="1" i="0" u="none" strike="noStrike" cap="none" normalizeH="0" baseline="0">
                <a:ln>
                  <a:noFill/>
                </a:ln>
                <a:solidFill>
                  <a:schemeClr val="tx1"/>
                </a:solidFill>
                <a:effectLst/>
                <a:latin typeface="Arial" panose="020B0604020202020204" pitchFamily="34" charset="0"/>
              </a:rPr>
              <a:t>tables, primary keys, foreign keys</a:t>
            </a:r>
            <a:r>
              <a:rPr kumimoji="0" lang="en-US" altLang="en-US" sz="1800" b="0" i="0" u="none" strike="noStrike" cap="none" normalizeH="0" baseline="0">
                <a:ln>
                  <a:noFill/>
                </a:ln>
                <a:solidFill>
                  <a:schemeClr val="tx1"/>
                </a:solidFill>
                <a:effectLst/>
                <a:latin typeface="Arial" panose="020B0604020202020204" pitchFamily="34" charset="0"/>
              </a:rPr>
              <a:t>, and relationships between Movies and Directors.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Data Retrieval &amp; Filtering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Efficient extraction of required data using conditions, pattern matching (</a:t>
            </a:r>
            <a:r>
              <a:rPr kumimoji="0" lang="en-US" altLang="en-US" sz="1000" b="0" i="0" u="none" strike="noStrike" cap="none" normalizeH="0" baseline="0">
                <a:ln>
                  <a:noFill/>
                </a:ln>
                <a:solidFill>
                  <a:schemeClr val="tx1"/>
                </a:solidFill>
                <a:effectLst/>
                <a:latin typeface="Arial Unicode MS"/>
              </a:rPr>
              <a:t>LIKE</a:t>
            </a:r>
            <a:r>
              <a:rPr kumimoji="0" lang="en-US" altLang="en-US" sz="800" b="0" i="0" u="none" strike="noStrike" cap="none" normalizeH="0" baseline="0">
                <a:ln>
                  <a:noFill/>
                </a:ln>
                <a:solidFill>
                  <a:schemeClr val="tx1"/>
                </a:solidFill>
                <a:effectLst/>
              </a:rPr>
              <a:t>), and set operations (</a:t>
            </a:r>
            <a:r>
              <a:rPr kumimoji="0" lang="en-US" altLang="en-US" sz="1000" b="0" i="0" u="none" strike="noStrike" cap="none" normalizeH="0" baseline="0">
                <a:ln>
                  <a:noFill/>
                </a:ln>
                <a:solidFill>
                  <a:schemeClr val="tx1"/>
                </a:solidFill>
                <a:effectLst/>
                <a:latin typeface="Arial Unicode MS"/>
              </a:rPr>
              <a:t>IN</a:t>
            </a:r>
            <a:r>
              <a:rPr kumimoji="0" lang="en-US" altLang="en-US" sz="800" b="0" i="0" u="none" strike="noStrike" cap="none" normalizeH="0" baseline="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Data Aggregation &amp; Analysis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 of aggregate functions like </a:t>
            </a:r>
            <a:r>
              <a:rPr kumimoji="0" lang="en-US" altLang="en-US" sz="1000" b="0" i="0" u="none" strike="noStrike" cap="none" normalizeH="0" baseline="0">
                <a:ln>
                  <a:noFill/>
                </a:ln>
                <a:solidFill>
                  <a:schemeClr val="tx1"/>
                </a:solidFill>
                <a:effectLst/>
                <a:latin typeface="Arial Unicode MS"/>
              </a:rPr>
              <a:t>COUNT()</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SUM()</a:t>
            </a:r>
            <a:r>
              <a:rPr kumimoji="0" lang="en-US" altLang="en-US" sz="800" b="0" i="0" u="none" strike="noStrike" cap="none" normalizeH="0" baseline="0">
                <a:ln>
                  <a:noFill/>
                </a:ln>
                <a:solidFill>
                  <a:schemeClr val="tx1"/>
                </a:solidFill>
                <a:effectLst/>
              </a:rPr>
              <a:t>, and </a:t>
            </a:r>
            <a:r>
              <a:rPr kumimoji="0" lang="en-US" altLang="en-US" sz="1000" b="0" i="0" u="none" strike="noStrike" cap="none" normalizeH="0" baseline="0">
                <a:ln>
                  <a:noFill/>
                </a:ln>
                <a:solidFill>
                  <a:schemeClr val="tx1"/>
                </a:solidFill>
                <a:effectLst/>
                <a:latin typeface="Arial Unicode MS"/>
              </a:rPr>
              <a:t>AVG()</a:t>
            </a:r>
            <a:r>
              <a:rPr kumimoji="0" lang="en-US" altLang="en-US" sz="800" b="0" i="0" u="none" strike="noStrike" cap="none" normalizeH="0" baseline="0">
                <a:ln>
                  <a:noFill/>
                </a:ln>
                <a:solidFill>
                  <a:schemeClr val="tx1"/>
                </a:solidFill>
                <a:effectLst/>
              </a:rPr>
              <a:t> to derive meaningful insights from raw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Sorting &amp; Ranking Techniques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Identifying top and bottom records using sorting and ranking methods to find most popular, most bankable movies and directors.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2064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2F0814-2537-BA13-31C2-D308C9DDA540}"/>
              </a:ext>
            </a:extLst>
          </p:cNvPr>
          <p:cNvSpPr>
            <a:spLocks noChangeArrowheads="1"/>
          </p:cNvSpPr>
          <p:nvPr/>
        </p:nvSpPr>
        <p:spPr bwMode="auto">
          <a:xfrm>
            <a:off x="1720646" y="798897"/>
            <a:ext cx="900634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Date-Based Analysis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Filtering data based on release dates to analyze trends over time (e.g., post-2000 movie performance).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Gender-Based Analysis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Analysis of gender distribution among directors to understand diversity patterns in the film industry.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Performance &amp; Business Analysis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Evaluating commercial success using revenue data and audience reception using popularity and vote averages.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Problem-Solving Skills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Translating real-world analytical questions into efficient SQL queries.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Analytical Thinking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Interpreting query results to derive actionable insights and meaningful conclusions.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166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8AADDB-AE56-23FF-6158-CB235CB5CD91}"/>
              </a:ext>
            </a:extLst>
          </p:cNvPr>
          <p:cNvSpPr txBox="1"/>
          <p:nvPr/>
        </p:nvSpPr>
        <p:spPr>
          <a:xfrm>
            <a:off x="845574" y="582250"/>
            <a:ext cx="4218039" cy="523220"/>
          </a:xfrm>
          <a:prstGeom prst="rect">
            <a:avLst/>
          </a:prstGeom>
          <a:noFill/>
        </p:spPr>
        <p:txBody>
          <a:bodyPr wrap="square">
            <a:spAutoFit/>
          </a:bodyPr>
          <a:lstStyle/>
          <a:p>
            <a:r>
              <a:rPr lang="en-US" sz="2800" b="1"/>
              <a:t>19.Future Scope</a:t>
            </a:r>
          </a:p>
        </p:txBody>
      </p:sp>
      <p:sp>
        <p:nvSpPr>
          <p:cNvPr id="4" name="Rectangle 1">
            <a:extLst>
              <a:ext uri="{FF2B5EF4-FFF2-40B4-BE49-F238E27FC236}">
                <a16:creationId xmlns:a16="http://schemas.microsoft.com/office/drawing/2014/main" id="{F4DD1F5B-80E0-1F3E-F431-E3856EA2AF41}"/>
              </a:ext>
            </a:extLst>
          </p:cNvPr>
          <p:cNvSpPr>
            <a:spLocks noChangeArrowheads="1"/>
          </p:cNvSpPr>
          <p:nvPr/>
        </p:nvSpPr>
        <p:spPr bwMode="auto">
          <a:xfrm>
            <a:off x="1455174" y="1474436"/>
            <a:ext cx="9281652"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Integration of Additional Tables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Extend the database by adding tables such as </a:t>
            </a:r>
            <a:r>
              <a:rPr kumimoji="0" lang="en-US" altLang="en-US" sz="1800" b="1" i="0" u="none" strike="noStrike" cap="none" normalizeH="0" baseline="0">
                <a:ln>
                  <a:noFill/>
                </a:ln>
                <a:solidFill>
                  <a:schemeClr val="tx1"/>
                </a:solidFill>
                <a:effectLst/>
                <a:latin typeface="Arial" panose="020B0604020202020204" pitchFamily="34" charset="0"/>
              </a:rPr>
              <a:t>Actors, Genres, Production Companies, and Awards</a:t>
            </a:r>
            <a:r>
              <a:rPr kumimoji="0" lang="en-US" altLang="en-US" sz="1800" b="0" i="0" u="none" strike="noStrike" cap="none" normalizeH="0" baseline="0">
                <a:ln>
                  <a:noFill/>
                </a:ln>
                <a:solidFill>
                  <a:schemeClr val="tx1"/>
                </a:solidFill>
                <a:effectLst/>
                <a:latin typeface="Arial" panose="020B0604020202020204" pitchFamily="34" charset="0"/>
              </a:rPr>
              <a:t> for deeper analysis.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Advanced Movie Recommendation System</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Build a recommendation engine using popularity, ratings, genres, and user preferences to suggest movies.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Time-Series Trend Analysis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Analyze movie performance trends across years to understand changes in audience preferences and industry growth.</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Director &amp; Actor Performance Analytics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Evaluate success patterns of directors and actors based on ratings, revenue, and audience engagement.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82581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8BA77F-748C-AF17-0909-628C396315FD}"/>
              </a:ext>
            </a:extLst>
          </p:cNvPr>
          <p:cNvSpPr>
            <a:spLocks noChangeArrowheads="1"/>
          </p:cNvSpPr>
          <p:nvPr/>
        </p:nvSpPr>
        <p:spPr bwMode="auto">
          <a:xfrm>
            <a:off x="1209368" y="942313"/>
            <a:ext cx="950779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Gender &amp; Diversity Analytics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Perform in-depth diversity analysis across directors, actors, and crew members to identify representation gaps.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Predictive Analytics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 machine learning models to predict movie success based on budget, director history, and genre.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Real-Time Data Integration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Connect with live IMDB or TMDB APIs to keep the database updated with the latest movies and ratings.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Dashboard &amp; Visualization Enhancement</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Create interactive dashboards using tools like </a:t>
            </a:r>
            <a:r>
              <a:rPr kumimoji="0" lang="en-US" altLang="en-US" sz="1800" b="1" i="0" u="none" strike="noStrike" cap="none" normalizeH="0" baseline="0">
                <a:ln>
                  <a:noFill/>
                </a:ln>
                <a:solidFill>
                  <a:schemeClr val="tx1"/>
                </a:solidFill>
                <a:effectLst/>
                <a:latin typeface="Arial" panose="020B0604020202020204" pitchFamily="34" charset="0"/>
              </a:rPr>
              <a:t>Power BI, Tableau, or Python (Matplotlib/Seaborn)</a:t>
            </a:r>
            <a:r>
              <a:rPr kumimoji="0" lang="en-US" altLang="en-US" sz="1800" b="0" i="0" u="none" strike="noStrike" cap="none" normalizeH="0" baseline="0">
                <a:ln>
                  <a:noFill/>
                </a:ln>
                <a:solidFill>
                  <a:schemeClr val="tx1"/>
                </a:solidFill>
                <a:effectLst/>
                <a:latin typeface="Arial" panose="020B0604020202020204" pitchFamily="34" charset="0"/>
              </a:rPr>
              <a:t> for better insights.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84977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AB9733-BB49-783A-0647-C44AC623CA84}"/>
              </a:ext>
            </a:extLst>
          </p:cNvPr>
          <p:cNvSpPr txBox="1"/>
          <p:nvPr/>
        </p:nvSpPr>
        <p:spPr>
          <a:xfrm>
            <a:off x="1229030" y="1397675"/>
            <a:ext cx="8947355" cy="20313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Revenue &amp; ROI Analysis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Include movie budget data to calculate ROI and identify highly profitable movies and directors.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Scalability &amp; Performance Optimization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Optimize queries using indexing and normalization to handle large-scale datasets efficiently.</a:t>
            </a:r>
          </a:p>
        </p:txBody>
      </p:sp>
      <p:sp>
        <p:nvSpPr>
          <p:cNvPr id="5" name="TextBox 4">
            <a:extLst>
              <a:ext uri="{FF2B5EF4-FFF2-40B4-BE49-F238E27FC236}">
                <a16:creationId xmlns:a16="http://schemas.microsoft.com/office/drawing/2014/main" id="{6F441BAA-714B-3660-A2C7-681C7D32F56B}"/>
              </a:ext>
            </a:extLst>
          </p:cNvPr>
          <p:cNvSpPr txBox="1"/>
          <p:nvPr/>
        </p:nvSpPr>
        <p:spPr>
          <a:xfrm>
            <a:off x="1229030" y="4169328"/>
            <a:ext cx="8947355" cy="646331"/>
          </a:xfrm>
          <a:prstGeom prst="rect">
            <a:avLst/>
          </a:prstGeom>
          <a:noFill/>
        </p:spPr>
        <p:txBody>
          <a:bodyPr wrap="square">
            <a:spAutoFit/>
          </a:bodyPr>
          <a:lstStyle/>
          <a:p>
            <a:r>
              <a:rPr lang="en-US"/>
              <a:t>With further enhancements, this project can evolve into a </a:t>
            </a:r>
            <a:r>
              <a:rPr lang="en-US" b="1"/>
              <a:t>full-scale movie analytics and decision-support system</a:t>
            </a:r>
            <a:r>
              <a:rPr lang="en-US"/>
              <a:t> useful for studios, analysts, and streaming platforms.</a:t>
            </a:r>
          </a:p>
        </p:txBody>
      </p:sp>
    </p:spTree>
    <p:extLst>
      <p:ext uri="{BB962C8B-B14F-4D97-AF65-F5344CB8AC3E}">
        <p14:creationId xmlns:p14="http://schemas.microsoft.com/office/powerpoint/2010/main" val="783691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10FF86-6694-A1E4-A90F-9E1AAD084A55}"/>
              </a:ext>
            </a:extLst>
          </p:cNvPr>
          <p:cNvSpPr txBox="1"/>
          <p:nvPr/>
        </p:nvSpPr>
        <p:spPr>
          <a:xfrm>
            <a:off x="580103" y="333674"/>
            <a:ext cx="3736258" cy="523220"/>
          </a:xfrm>
          <a:prstGeom prst="rect">
            <a:avLst/>
          </a:prstGeom>
          <a:noFill/>
        </p:spPr>
        <p:txBody>
          <a:bodyPr wrap="square">
            <a:spAutoFit/>
          </a:bodyPr>
          <a:lstStyle/>
          <a:p>
            <a:r>
              <a:rPr lang="en-US" sz="2800" b="1"/>
              <a:t>20.Conclusion</a:t>
            </a:r>
            <a:endParaRPr lang="en-US" sz="2800"/>
          </a:p>
        </p:txBody>
      </p:sp>
      <p:sp>
        <p:nvSpPr>
          <p:cNvPr id="5" name="TextBox 4">
            <a:extLst>
              <a:ext uri="{FF2B5EF4-FFF2-40B4-BE49-F238E27FC236}">
                <a16:creationId xmlns:a16="http://schemas.microsoft.com/office/drawing/2014/main" id="{09FA1116-4D84-1A44-BC95-3313F1AAD155}"/>
              </a:ext>
            </a:extLst>
          </p:cNvPr>
          <p:cNvSpPr txBox="1"/>
          <p:nvPr/>
        </p:nvSpPr>
        <p:spPr>
          <a:xfrm>
            <a:off x="1307689" y="1016729"/>
            <a:ext cx="9635613" cy="5078313"/>
          </a:xfrm>
          <a:prstGeom prst="rect">
            <a:avLst/>
          </a:prstGeom>
          <a:noFill/>
        </p:spPr>
        <p:txBody>
          <a:bodyPr wrap="square">
            <a:spAutoFit/>
          </a:bodyPr>
          <a:lstStyle/>
          <a:p>
            <a:pPr>
              <a:buNone/>
            </a:pPr>
            <a:r>
              <a:rPr lang="en-US"/>
              <a:t>The IMDB Movies and Directors database project successfully demonstrates how structured data stored in a relational database can be effectively analyzed using SQL. By performing various queries, meaningful insights were extracted related to movies, directors, popularity, revenue, ratings, and gender distribution.</a:t>
            </a:r>
          </a:p>
          <a:p>
            <a:pPr>
              <a:buNone/>
            </a:pPr>
            <a:endParaRPr lang="en-US"/>
          </a:p>
          <a:p>
            <a:pPr>
              <a:buNone/>
            </a:pPr>
            <a:r>
              <a:rPr lang="en-US"/>
              <a:t>The project highlights the ability to retrieve, filter, sort, and aggregate large volumes of movie data to answer real-world analytical questions. It also shows how directors play a crucial role in both the creative and commercial success of movies. Analysis of popularity and revenue helped differentiate between audience interest and financial performance.</a:t>
            </a:r>
          </a:p>
          <a:p>
            <a:pPr>
              <a:buNone/>
            </a:pPr>
            <a:endParaRPr lang="en-US"/>
          </a:p>
          <a:p>
            <a:pPr>
              <a:buNone/>
            </a:pPr>
            <a:r>
              <a:rPr lang="en-US"/>
              <a:t>Additionally, the project sheds light on industry trends such as the dominance of certain directors, the relatively low representation of female directors, and the improvement in movie ratings after the year 2000. Overall, this project builds a strong foundation in SQL querying, analytical thinking, and database management.</a:t>
            </a:r>
          </a:p>
          <a:p>
            <a:pPr>
              <a:buNone/>
            </a:pPr>
            <a:endParaRPr lang="en-US"/>
          </a:p>
          <a:p>
            <a:pPr>
              <a:buNone/>
            </a:pPr>
            <a:r>
              <a:rPr lang="en-US"/>
              <a:t>This work can be further extended into advanced analytics, dashboards, and predictive models, making it highly relevant for careers in </a:t>
            </a:r>
            <a:r>
              <a:rPr lang="en-US" b="1"/>
              <a:t>Data Analytics, Business Intelligence, and Database Development</a:t>
            </a:r>
            <a:r>
              <a:rPr lang="en-US"/>
              <a:t>.</a:t>
            </a:r>
          </a:p>
        </p:txBody>
      </p:sp>
    </p:spTree>
    <p:extLst>
      <p:ext uri="{BB962C8B-B14F-4D97-AF65-F5344CB8AC3E}">
        <p14:creationId xmlns:p14="http://schemas.microsoft.com/office/powerpoint/2010/main" val="710238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1442</Words>
  <Application>Microsoft Office PowerPoint</Application>
  <PresentationFormat>Widescreen</PresentationFormat>
  <Paragraphs>169</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Arial Unicode MS</vt:lpstr>
      <vt:lpstr>Calibri</vt:lpstr>
      <vt:lpstr>Calibri Light</vt:lpstr>
      <vt:lpstr>Courier New</vt:lpstr>
      <vt:lpstr>Office Theme</vt:lpstr>
      <vt:lpstr>       IMDB Movies Database Analysis Using SQl  Submitted by: Laxmi Kaddoni  Tools Used SQL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laxmi</dc:creator>
  <cp:lastModifiedBy>laxmi</cp:lastModifiedBy>
  <cp:revision>2</cp:revision>
  <dcterms:created xsi:type="dcterms:W3CDTF">2026-02-22T11:41:09Z</dcterms:created>
  <dcterms:modified xsi:type="dcterms:W3CDTF">2026-02-26T06:38:14Z</dcterms:modified>
</cp:coreProperties>
</file>